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3" r:id="rId4"/>
    <p:sldId id="264" r:id="rId5"/>
    <p:sldId id="265" r:id="rId6"/>
    <p:sldId id="261" r:id="rId7"/>
    <p:sldId id="266" r:id="rId8"/>
    <p:sldId id="260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59" r:id="rId19"/>
    <p:sldId id="262" r:id="rId20"/>
  </p:sldIdLst>
  <p:sldSz cx="18288000" cy="10287000"/>
  <p:notesSz cx="6858000" cy="9144000"/>
  <p:embeddedFontLst>
    <p:embeddedFont>
      <p:font typeface="Clear Sans Thin" panose="020B0604020202020204" charset="0"/>
      <p:regular r:id="rId22"/>
    </p:embeddedFont>
    <p:embeddedFont>
      <p:font typeface="One Little Font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6" autoAdjust="0"/>
    <p:restoredTop sz="94622" autoAdjust="0"/>
  </p:normalViewPr>
  <p:slideViewPr>
    <p:cSldViewPr>
      <p:cViewPr varScale="1">
        <p:scale>
          <a:sx n="27" d="100"/>
          <a:sy n="27" d="100"/>
        </p:scale>
        <p:origin x="30" y="5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2007F-A599-4C7C-BFD7-94E96345DA06}" type="datetimeFigureOut">
              <a:rPr lang="es-PE" smtClean="0"/>
              <a:t>11/04/2024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17F230-7587-4714-A3FD-73C668E791A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9500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7F230-7587-4714-A3FD-73C668E791A0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39094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7F230-7587-4714-A3FD-73C668E791A0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3101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7F230-7587-4714-A3FD-73C668E791A0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3962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7F230-7587-4714-A3FD-73C668E791A0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8257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svg"/><Relationship Id="rId7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2809" y="6097219"/>
            <a:ext cx="6716675" cy="4462659"/>
          </a:xfrm>
          <a:custGeom>
            <a:avLst/>
            <a:gdLst/>
            <a:ahLst/>
            <a:cxnLst/>
            <a:rect l="l" t="t" r="r" b="b"/>
            <a:pathLst>
              <a:path w="6716675" h="4462659">
                <a:moveTo>
                  <a:pt x="0" y="0"/>
                </a:moveTo>
                <a:lnTo>
                  <a:pt x="6716675" y="0"/>
                </a:lnTo>
                <a:lnTo>
                  <a:pt x="6716675" y="4462660"/>
                </a:lnTo>
                <a:lnTo>
                  <a:pt x="0" y="4462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204" b="-32883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1928029" y="-331063"/>
            <a:ext cx="6536750" cy="4203644"/>
          </a:xfrm>
          <a:custGeom>
            <a:avLst/>
            <a:gdLst/>
            <a:ahLst/>
            <a:cxnLst/>
            <a:rect l="l" t="t" r="r" b="b"/>
            <a:pathLst>
              <a:path w="6536750" h="4203644">
                <a:moveTo>
                  <a:pt x="0" y="0"/>
                </a:moveTo>
                <a:lnTo>
                  <a:pt x="6536750" y="0"/>
                </a:lnTo>
                <a:lnTo>
                  <a:pt x="6536750" y="4203644"/>
                </a:lnTo>
                <a:lnTo>
                  <a:pt x="0" y="4203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073" b="-4107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398371" y="7474406"/>
            <a:ext cx="4030989" cy="3055612"/>
          </a:xfrm>
          <a:custGeom>
            <a:avLst/>
            <a:gdLst/>
            <a:ahLst/>
            <a:cxnLst/>
            <a:rect l="l" t="t" r="r" b="b"/>
            <a:pathLst>
              <a:path w="4030989" h="3055612">
                <a:moveTo>
                  <a:pt x="0" y="0"/>
                </a:moveTo>
                <a:lnTo>
                  <a:pt x="4030989" y="0"/>
                </a:lnTo>
                <a:lnTo>
                  <a:pt x="4030989" y="3055612"/>
                </a:lnTo>
                <a:lnTo>
                  <a:pt x="0" y="3055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466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4000" y="-128672"/>
            <a:ext cx="4030989" cy="2702976"/>
          </a:xfrm>
          <a:custGeom>
            <a:avLst/>
            <a:gdLst/>
            <a:ahLst/>
            <a:cxnLst/>
            <a:rect l="l" t="t" r="r" b="b"/>
            <a:pathLst>
              <a:path w="4030989" h="2702976">
                <a:moveTo>
                  <a:pt x="0" y="0"/>
                </a:moveTo>
                <a:lnTo>
                  <a:pt x="4030989" y="0"/>
                </a:lnTo>
                <a:lnTo>
                  <a:pt x="4030989" y="2702976"/>
                </a:lnTo>
                <a:lnTo>
                  <a:pt x="0" y="27029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2232"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14590506" y="2051275"/>
            <a:ext cx="4866968" cy="3210049"/>
          </a:xfrm>
          <a:custGeom>
            <a:avLst/>
            <a:gdLst/>
            <a:ahLst/>
            <a:cxnLst/>
            <a:rect l="l" t="t" r="r" b="b"/>
            <a:pathLst>
              <a:path w="4866968" h="3210049">
                <a:moveTo>
                  <a:pt x="0" y="0"/>
                </a:moveTo>
                <a:lnTo>
                  <a:pt x="4866967" y="0"/>
                </a:lnTo>
                <a:lnTo>
                  <a:pt x="4866967" y="3210049"/>
                </a:lnTo>
                <a:lnTo>
                  <a:pt x="0" y="32100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818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35479" y="4306427"/>
            <a:ext cx="3907893" cy="4114800"/>
          </a:xfrm>
          <a:custGeom>
            <a:avLst/>
            <a:gdLst/>
            <a:ahLst/>
            <a:cxnLst/>
            <a:rect l="l" t="t" r="r" b="b"/>
            <a:pathLst>
              <a:path w="3907893" h="4114800">
                <a:moveTo>
                  <a:pt x="0" y="0"/>
                </a:moveTo>
                <a:lnTo>
                  <a:pt x="3907893" y="0"/>
                </a:lnTo>
                <a:lnTo>
                  <a:pt x="39078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54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387942" y="1844586"/>
            <a:ext cx="9512116" cy="3996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34"/>
              </a:lnSpc>
            </a:pPr>
            <a:endParaRPr/>
          </a:p>
          <a:p>
            <a:pPr marL="0" lvl="0" indent="0" algn="ctr">
              <a:lnSpc>
                <a:spcPts val="10234"/>
              </a:lnSpc>
              <a:spcBef>
                <a:spcPct val="0"/>
              </a:spcBef>
            </a:pPr>
            <a:r>
              <a:rPr lang="en-US" sz="11499">
                <a:solidFill>
                  <a:srgbClr val="000000"/>
                </a:solidFill>
                <a:latin typeface="One Little Font Bold"/>
              </a:rPr>
              <a:t>SEPSIS NEONATAL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56416" y="5515063"/>
            <a:ext cx="701857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spc="99">
                <a:solidFill>
                  <a:srgbClr val="000000"/>
                </a:solidFill>
                <a:latin typeface="Clear Sans Thin"/>
              </a:rPr>
              <a:t>MR1 LUCIANA LUNA ABANTO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66101" y="2291744"/>
            <a:ext cx="8238448" cy="102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>
                <a:solidFill>
                  <a:srgbClr val="000000"/>
                </a:solidFill>
                <a:latin typeface="One Little Font Bold"/>
              </a:rPr>
              <a:t>SEPSIS NEONATAL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9086B9A5-FE29-AAE5-8314-04DE1743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C97C1209-48EF-7C97-A25F-B3E0EDE97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290" y="3620199"/>
            <a:ext cx="14852910" cy="6190857"/>
          </a:xfrm>
        </p:spPr>
        <p:txBody>
          <a:bodyPr>
            <a:normAutofit lnSpcReduction="10000"/>
          </a:bodyPr>
          <a:lstStyle/>
          <a:p>
            <a:r>
              <a:rPr lang="es-MX" sz="3600" b="1" dirty="0"/>
              <a:t>La sepsis neonatal es una afección sistémica de origen bacteriano, viral o fúngico, caracterizado por cambios hemodinámicos y otras manifestaciones clínicas, como respuesta desregulada a la infección en los primeros 28 días de nacido o 44 semanas de edad postnatal en los recién nacidos prematuros</a:t>
            </a:r>
          </a:p>
          <a:p>
            <a:r>
              <a:rPr lang="es-MX" sz="3600" dirty="0"/>
              <a:t>Son muy pocos los RN que realmente tienen sepsis. &lt; 10% y no más de 25%-30% de los RN en lo que se sospecha sepsis tienen sepsis neonatal comprobada.</a:t>
            </a:r>
          </a:p>
          <a:p>
            <a:r>
              <a:rPr lang="es-MX" sz="3600" dirty="0"/>
              <a:t>Como dijo el Profesor James B. </a:t>
            </a:r>
            <a:r>
              <a:rPr lang="es-MX" sz="3600" dirty="0" err="1"/>
              <a:t>Hanshaw</a:t>
            </a:r>
            <a:r>
              <a:rPr lang="es-MX" sz="3600" dirty="0"/>
              <a:t> hace muchos años, los neonatólogos le dan antibióticos a los recién nacidos por dos “razones principales”, una es porque no respira, y la otra es porque respira</a:t>
            </a:r>
            <a:endParaRPr lang="es-PE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9086B9A5-FE29-AAE5-8314-04DE1743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2" name="TextBox 2"/>
          <p:cNvSpPr txBox="1"/>
          <p:nvPr/>
        </p:nvSpPr>
        <p:spPr>
          <a:xfrm>
            <a:off x="397636" y="1005397"/>
            <a:ext cx="13125556" cy="1033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DEFINICIONES OPERACIONALES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689FF63A-0748-0845-CE62-CE46CE3F7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426F573-80B3-D1D0-3D80-C2CF43D60D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7577" y="6126163"/>
            <a:ext cx="9158236" cy="416851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1B4C653-383E-9E9F-37F0-AB7D607AEA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537" y="1794690"/>
            <a:ext cx="879016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24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9086B9A5-FE29-AAE5-8314-04DE1743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689FF63A-0748-0845-CE62-CE46CE3F7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323EB07-6BB1-E7D8-0916-D5647C4674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42" y="251406"/>
            <a:ext cx="7568960" cy="10179594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:a16="http://schemas.microsoft.com/office/drawing/2014/main" id="{6DFC01BF-6EF0-7A17-C861-68F877521817}"/>
              </a:ext>
            </a:extLst>
          </p:cNvPr>
          <p:cNvSpPr txBox="1"/>
          <p:nvPr/>
        </p:nvSpPr>
        <p:spPr>
          <a:xfrm>
            <a:off x="10119464" y="2871884"/>
            <a:ext cx="6949336" cy="1982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FACTORES </a:t>
            </a:r>
          </a:p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FAVORECEDORES</a:t>
            </a:r>
          </a:p>
        </p:txBody>
      </p:sp>
    </p:spTree>
    <p:extLst>
      <p:ext uri="{BB962C8B-B14F-4D97-AF65-F5344CB8AC3E}">
        <p14:creationId xmlns:p14="http://schemas.microsoft.com/office/powerpoint/2010/main" val="3557902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9086B9A5-FE29-AAE5-8314-04DE1743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689FF63A-0748-0845-CE62-CE46CE3F7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2" name="Google Shape;371;p19">
            <a:extLst>
              <a:ext uri="{FF2B5EF4-FFF2-40B4-BE49-F238E27FC236}">
                <a16:creationId xmlns:a16="http://schemas.microsoft.com/office/drawing/2014/main" id="{37650098-2A87-4B90-340E-8D118C96079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50000" t="55175" r="24221" b="4804"/>
          <a:stretch/>
        </p:blipFill>
        <p:spPr>
          <a:xfrm>
            <a:off x="9601202" y="1892196"/>
            <a:ext cx="7406536" cy="64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72;p19">
            <a:extLst>
              <a:ext uri="{FF2B5EF4-FFF2-40B4-BE49-F238E27FC236}">
                <a16:creationId xmlns:a16="http://schemas.microsoft.com/office/drawing/2014/main" id="{572689C1-8E3C-469D-8574-FD67CFD7BB4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50965" t="20130" r="23823" b="43722"/>
          <a:stretch/>
        </p:blipFill>
        <p:spPr>
          <a:xfrm>
            <a:off x="451624" y="1892196"/>
            <a:ext cx="8371643" cy="62358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7612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205" y="1131931"/>
            <a:ext cx="9163024" cy="1033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FACTORES DE RIESGO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6101" y="3550041"/>
            <a:ext cx="8238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9ACD7BE-4429-BE52-5112-2F3379A10D5B}"/>
              </a:ext>
            </a:extLst>
          </p:cNvPr>
          <p:cNvSpPr txBox="1"/>
          <p:nvPr/>
        </p:nvSpPr>
        <p:spPr>
          <a:xfrm>
            <a:off x="511005" y="1869378"/>
            <a:ext cx="7620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PE" sz="2000" dirty="0"/>
              <a:t>Fiebre intraparto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PE" sz="2000" dirty="0"/>
              <a:t>Corioamnionitis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PE" sz="2000" dirty="0"/>
              <a:t>Duración RM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PE" sz="2000" dirty="0"/>
              <a:t>Colonización por estreptococo grupo B y horas de su tratamiento antenatal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PE" sz="2000" dirty="0"/>
              <a:t>Necesidad de antibióticos intraparto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PE" sz="2000" dirty="0"/>
              <a:t>Liquido </a:t>
            </a:r>
            <a:r>
              <a:rPr lang="es-PE" sz="2000" dirty="0" err="1"/>
              <a:t>amnionico</a:t>
            </a:r>
            <a:r>
              <a:rPr lang="es-PE" sz="2000" dirty="0"/>
              <a:t> de mal olor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PE" sz="2000" dirty="0"/>
              <a:t>Taquicardia fetal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PE" sz="2000" dirty="0"/>
              <a:t>Acidosis fetal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PE" sz="2000" dirty="0"/>
              <a:t>Edad gestacional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94F30E4-9A32-74D1-FD54-94BB4487DC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1" y="5283785"/>
            <a:ext cx="7934194" cy="300557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D8374B9-7A10-1DD4-AE05-24E1D81A50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6144" y="5319657"/>
            <a:ext cx="1015956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44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9086B9A5-FE29-AAE5-8314-04DE1743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689FF63A-0748-0845-CE62-CE46CE3F7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1B1C79F1-AD91-A03F-6529-BBF6B1E42948}"/>
              </a:ext>
            </a:extLst>
          </p:cNvPr>
          <p:cNvSpPr txBox="1"/>
          <p:nvPr/>
        </p:nvSpPr>
        <p:spPr>
          <a:xfrm>
            <a:off x="875072" y="587028"/>
            <a:ext cx="8238448" cy="102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ETIOLOGÍA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AE903B6-347A-A13C-C015-8D9615BA49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1013" y="2305178"/>
            <a:ext cx="9709057" cy="739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00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66101" y="2291744"/>
            <a:ext cx="8238448" cy="102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SEPSIS NEONATAL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6101" y="3550041"/>
            <a:ext cx="8238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E3FC73E-27AF-B382-D9FE-8665B1C74235}"/>
              </a:ext>
            </a:extLst>
          </p:cNvPr>
          <p:cNvSpPr/>
          <p:nvPr/>
        </p:nvSpPr>
        <p:spPr>
          <a:xfrm>
            <a:off x="1828800" y="3550041"/>
            <a:ext cx="2424965" cy="87941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4400" b="1" dirty="0"/>
              <a:t>PRECOZ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983A4E8-4C64-7853-E1F0-D69001AED042}"/>
              </a:ext>
            </a:extLst>
          </p:cNvPr>
          <p:cNvSpPr/>
          <p:nvPr/>
        </p:nvSpPr>
        <p:spPr>
          <a:xfrm>
            <a:off x="1828799" y="5985474"/>
            <a:ext cx="2424965" cy="87941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4400" b="1" dirty="0"/>
              <a:t>TARDIA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9ACD7BE-4429-BE52-5112-2F3379A10D5B}"/>
              </a:ext>
            </a:extLst>
          </p:cNvPr>
          <p:cNvSpPr txBox="1"/>
          <p:nvPr/>
        </p:nvSpPr>
        <p:spPr>
          <a:xfrm>
            <a:off x="5943600" y="3358805"/>
            <a:ext cx="67769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/>
              <a:t>1%</a:t>
            </a:r>
          </a:p>
          <a:p>
            <a:r>
              <a:rPr lang="es-PE" sz="2400" dirty="0"/>
              <a:t>&lt;72 horas</a:t>
            </a:r>
          </a:p>
          <a:p>
            <a:r>
              <a:rPr lang="es-PE" sz="2400" dirty="0"/>
              <a:t>Patógenos: E. </a:t>
            </a:r>
            <a:r>
              <a:rPr lang="es-PE" sz="2400" dirty="0" err="1"/>
              <a:t>coli</a:t>
            </a:r>
            <a:r>
              <a:rPr lang="es-PE" sz="2400" dirty="0"/>
              <a:t>, gran negativos y estreptococo beta hemolítico del grupo B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0C837AD-B9D7-1298-4B1E-A9970C119726}"/>
              </a:ext>
            </a:extLst>
          </p:cNvPr>
          <p:cNvSpPr txBox="1"/>
          <p:nvPr/>
        </p:nvSpPr>
        <p:spPr>
          <a:xfrm>
            <a:off x="5943600" y="5808213"/>
            <a:ext cx="67769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/>
              <a:t>Asociada a agentes de la salud</a:t>
            </a:r>
          </a:p>
          <a:p>
            <a:r>
              <a:rPr lang="es-PE" sz="2400" dirty="0"/>
              <a:t>&gt;72 horas</a:t>
            </a:r>
          </a:p>
          <a:p>
            <a:r>
              <a:rPr lang="es-PE" sz="2400" dirty="0"/>
              <a:t>Patógenos: hospitalarios</a:t>
            </a:r>
          </a:p>
          <a:p>
            <a:r>
              <a:rPr lang="es-PE" sz="2400" dirty="0"/>
              <a:t>0.6% a 14.2% en RN internados</a:t>
            </a:r>
          </a:p>
          <a:p>
            <a:r>
              <a:rPr lang="es-PE" sz="2400" dirty="0"/>
              <a:t>Esta sospecha no es tan frecuente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2963269-2962-21D5-D5D1-C31B9871C9AD}"/>
              </a:ext>
            </a:extLst>
          </p:cNvPr>
          <p:cNvSpPr/>
          <p:nvPr/>
        </p:nvSpPr>
        <p:spPr>
          <a:xfrm>
            <a:off x="4674220" y="3718380"/>
            <a:ext cx="990600" cy="5301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676DC013-591F-CBF2-C1A9-DB25C52C71B5}"/>
              </a:ext>
            </a:extLst>
          </p:cNvPr>
          <p:cNvSpPr/>
          <p:nvPr/>
        </p:nvSpPr>
        <p:spPr>
          <a:xfrm>
            <a:off x="4674220" y="6047046"/>
            <a:ext cx="990600" cy="5301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40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205" y="1131931"/>
            <a:ext cx="8238448" cy="102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CLINICA NEONATAL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6101" y="3550041"/>
            <a:ext cx="8238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9ACD7BE-4429-BE52-5112-2F3379A10D5B}"/>
              </a:ext>
            </a:extLst>
          </p:cNvPr>
          <p:cNvSpPr txBox="1"/>
          <p:nvPr/>
        </p:nvSpPr>
        <p:spPr>
          <a:xfrm>
            <a:off x="762000" y="2471609"/>
            <a:ext cx="7620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/>
              <a:t>Muchos de los signos son inespecíficos</a:t>
            </a:r>
          </a:p>
          <a:p>
            <a:r>
              <a:rPr lang="es-PE" sz="2800" dirty="0"/>
              <a:t>Un examen físico normal y un RN asintomático tienen un elevado valor clínico con muy buen VP para saber con certeza que la sepsis no esta presente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12758AD-C785-8E3D-6C4F-0172D61A18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425" y="4924674"/>
            <a:ext cx="8377740" cy="527688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E78C663-232C-9FA4-FABD-84054B9A8A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0766" y="444383"/>
            <a:ext cx="9118809" cy="954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274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205" y="1131931"/>
            <a:ext cx="8238448" cy="102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DIAGNÓSTICO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6101" y="3550041"/>
            <a:ext cx="8238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9ACD7BE-4429-BE52-5112-2F3379A10D5B}"/>
              </a:ext>
            </a:extLst>
          </p:cNvPr>
          <p:cNvSpPr txBox="1"/>
          <p:nvPr/>
        </p:nvSpPr>
        <p:spPr>
          <a:xfrm>
            <a:off x="762000" y="2471609"/>
            <a:ext cx="162306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/>
              <a:t>Gold estándar: cultivo de sangre y LCR (Tasa de positividad es baja 26% 21%)</a:t>
            </a:r>
          </a:p>
          <a:p>
            <a:r>
              <a:rPr lang="es-PE" sz="2800" dirty="0"/>
              <a:t>Criterios: </a:t>
            </a:r>
          </a:p>
          <a:p>
            <a:r>
              <a:rPr lang="es-PE" sz="2800" dirty="0"/>
              <a:t>Hemograma alterado:</a:t>
            </a:r>
          </a:p>
          <a:p>
            <a:r>
              <a:rPr lang="es-PE" sz="2800" dirty="0"/>
              <a:t>	Leucocitosis</a:t>
            </a:r>
          </a:p>
          <a:p>
            <a:r>
              <a:rPr lang="es-PE" sz="2800" dirty="0"/>
              <a:t>	Leucopenia</a:t>
            </a:r>
          </a:p>
          <a:p>
            <a:r>
              <a:rPr lang="es-PE" sz="2800" dirty="0"/>
              <a:t>	</a:t>
            </a:r>
            <a:r>
              <a:rPr lang="es-PE" sz="2800" dirty="0" err="1"/>
              <a:t>Indice</a:t>
            </a:r>
            <a:r>
              <a:rPr lang="es-PE" sz="2800" dirty="0"/>
              <a:t> Neutrófilos </a:t>
            </a:r>
            <a:r>
              <a:rPr lang="es-PE" sz="2800" dirty="0" err="1"/>
              <a:t>inmeduros</a:t>
            </a:r>
            <a:r>
              <a:rPr lang="es-PE" sz="2800" dirty="0"/>
              <a:t>/totales &gt;0.2, &gt;0.16</a:t>
            </a:r>
          </a:p>
          <a:p>
            <a:r>
              <a:rPr lang="es-PE" sz="2800" dirty="0"/>
              <a:t>	Trombocitosis</a:t>
            </a:r>
          </a:p>
          <a:p>
            <a:r>
              <a:rPr lang="es-PE" sz="2800" dirty="0"/>
              <a:t>RFA:</a:t>
            </a:r>
          </a:p>
          <a:p>
            <a:r>
              <a:rPr lang="es-PE" sz="2800" dirty="0"/>
              <a:t>	PCR &gt;20-15mg/L</a:t>
            </a:r>
          </a:p>
          <a:p>
            <a:r>
              <a:rPr lang="es-PE" sz="2800" dirty="0"/>
              <a:t>	PCT &gt;3ng/ml</a:t>
            </a:r>
          </a:p>
          <a:p>
            <a:r>
              <a:rPr lang="es-PE" sz="2800" dirty="0"/>
              <a:t>Hemocultivo positivo</a:t>
            </a:r>
          </a:p>
          <a:p>
            <a:endParaRPr lang="es-PE" sz="2800" dirty="0"/>
          </a:p>
          <a:p>
            <a:r>
              <a:rPr lang="es-PE" sz="2800" dirty="0"/>
              <a:t>Dentro del estudio diagnóstico debe incluir el </a:t>
            </a:r>
            <a:r>
              <a:rPr lang="es-PE" sz="2800" dirty="0" err="1"/>
              <a:t>analisis</a:t>
            </a:r>
            <a:r>
              <a:rPr lang="es-PE" sz="2800" dirty="0"/>
              <a:t> de LCR 20-25% se asocia a meningitis</a:t>
            </a:r>
          </a:p>
        </p:txBody>
      </p:sp>
    </p:spTree>
    <p:extLst>
      <p:ext uri="{BB962C8B-B14F-4D97-AF65-F5344CB8AC3E}">
        <p14:creationId xmlns:p14="http://schemas.microsoft.com/office/powerpoint/2010/main" val="2019611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205" y="1131931"/>
            <a:ext cx="8238448" cy="102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MANEJO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6101" y="3550041"/>
            <a:ext cx="8238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C14CA7C-3050-C463-EEEA-D7259DD74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2594" y="230755"/>
            <a:ext cx="11903910" cy="955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5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205" y="1131931"/>
            <a:ext cx="8238448" cy="102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TRATAMIENTO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6101" y="3550041"/>
            <a:ext cx="8238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pic>
        <p:nvPicPr>
          <p:cNvPr id="8" name="Google Shape;539;p31">
            <a:extLst>
              <a:ext uri="{FF2B5EF4-FFF2-40B4-BE49-F238E27FC236}">
                <a16:creationId xmlns:a16="http://schemas.microsoft.com/office/drawing/2014/main" id="{27CB5A0B-1397-B0C8-E775-BFE02CA3FF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0652" t="22990" r="31957" b="14872"/>
          <a:stretch/>
        </p:blipFill>
        <p:spPr>
          <a:xfrm>
            <a:off x="-28754" y="2334932"/>
            <a:ext cx="8905408" cy="6389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44;p32">
            <a:extLst>
              <a:ext uri="{FF2B5EF4-FFF2-40B4-BE49-F238E27FC236}">
                <a16:creationId xmlns:a16="http://schemas.microsoft.com/office/drawing/2014/main" id="{0241262A-8D39-E7E1-8C07-4C3753968C8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9862" t="31898" r="30972" b="27646"/>
          <a:stretch/>
        </p:blipFill>
        <p:spPr>
          <a:xfrm>
            <a:off x="8956613" y="369165"/>
            <a:ext cx="8876451" cy="4795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49;p33">
            <a:extLst>
              <a:ext uri="{FF2B5EF4-FFF2-40B4-BE49-F238E27FC236}">
                <a16:creationId xmlns:a16="http://schemas.microsoft.com/office/drawing/2014/main" id="{8BA13F19-EC77-9984-D04D-3D97E7A17E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29782" t="29655" r="31522" b="34856"/>
          <a:stretch/>
        </p:blipFill>
        <p:spPr>
          <a:xfrm>
            <a:off x="8758722" y="5165019"/>
            <a:ext cx="9272231" cy="4017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6770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205" y="1131931"/>
            <a:ext cx="8238448" cy="102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TRATAMIENTO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6101" y="3550041"/>
            <a:ext cx="8238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pic>
        <p:nvPicPr>
          <p:cNvPr id="9" name="Google Shape;554;p34">
            <a:extLst>
              <a:ext uri="{FF2B5EF4-FFF2-40B4-BE49-F238E27FC236}">
                <a16:creationId xmlns:a16="http://schemas.microsoft.com/office/drawing/2014/main" id="{6340DEFE-A26D-2E93-3DB8-7E5D31F0C4E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2537" t="23857" r="33423" b="3181"/>
          <a:stretch/>
        </p:blipFill>
        <p:spPr>
          <a:xfrm>
            <a:off x="7205583" y="301462"/>
            <a:ext cx="9526813" cy="99855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8842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205" y="1131931"/>
            <a:ext cx="8238448" cy="102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TRATAMIENTO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6101" y="3550041"/>
            <a:ext cx="8238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pic>
        <p:nvPicPr>
          <p:cNvPr id="9" name="Google Shape;559;p35">
            <a:extLst>
              <a:ext uri="{FF2B5EF4-FFF2-40B4-BE49-F238E27FC236}">
                <a16:creationId xmlns:a16="http://schemas.microsoft.com/office/drawing/2014/main" id="{2F7CD284-21E0-A43E-6B7B-CBDAD28E12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2717" t="21906" r="33370" b="57087"/>
          <a:stretch/>
        </p:blipFill>
        <p:spPr>
          <a:xfrm>
            <a:off x="2357495" y="1761557"/>
            <a:ext cx="9384892" cy="4169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60;p35">
            <a:extLst>
              <a:ext uri="{FF2B5EF4-FFF2-40B4-BE49-F238E27FC236}">
                <a16:creationId xmlns:a16="http://schemas.microsoft.com/office/drawing/2014/main" id="{87C3C1BF-AD34-B317-3952-1A85063F407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1522" t="30879" r="32717" b="45870"/>
          <a:stretch/>
        </p:blipFill>
        <p:spPr>
          <a:xfrm>
            <a:off x="2502044" y="6117553"/>
            <a:ext cx="9513690" cy="4169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7021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6101" y="3550041"/>
            <a:ext cx="8238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pic>
        <p:nvPicPr>
          <p:cNvPr id="10" name="Google Shape;583;p39">
            <a:extLst>
              <a:ext uri="{FF2B5EF4-FFF2-40B4-BE49-F238E27FC236}">
                <a16:creationId xmlns:a16="http://schemas.microsoft.com/office/drawing/2014/main" id="{8C20025A-C4A3-C8C7-3817-F06B45A3C71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6315" t="46358" r="32895" b="28952"/>
          <a:stretch/>
        </p:blipFill>
        <p:spPr>
          <a:xfrm>
            <a:off x="320356" y="2369226"/>
            <a:ext cx="8823644" cy="3666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84;p39">
            <a:extLst>
              <a:ext uri="{FF2B5EF4-FFF2-40B4-BE49-F238E27FC236}">
                <a16:creationId xmlns:a16="http://schemas.microsoft.com/office/drawing/2014/main" id="{6A47EFF8-4BCE-3350-5BC7-48BEE96C1DC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6053" t="55986" r="39604" b="19324"/>
          <a:stretch/>
        </p:blipFill>
        <p:spPr>
          <a:xfrm>
            <a:off x="8876653" y="6213896"/>
            <a:ext cx="8238447" cy="366626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2">
            <a:extLst>
              <a:ext uri="{FF2B5EF4-FFF2-40B4-BE49-F238E27FC236}">
                <a16:creationId xmlns:a16="http://schemas.microsoft.com/office/drawing/2014/main" id="{96C06317-0269-A5FA-A8DF-B8DDF09DDD21}"/>
              </a:ext>
            </a:extLst>
          </p:cNvPr>
          <p:cNvSpPr txBox="1"/>
          <p:nvPr/>
        </p:nvSpPr>
        <p:spPr>
          <a:xfrm>
            <a:off x="638205" y="1131931"/>
            <a:ext cx="8238448" cy="102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AMIKACINA</a:t>
            </a:r>
          </a:p>
        </p:txBody>
      </p:sp>
    </p:spTree>
    <p:extLst>
      <p:ext uri="{BB962C8B-B14F-4D97-AF65-F5344CB8AC3E}">
        <p14:creationId xmlns:p14="http://schemas.microsoft.com/office/powerpoint/2010/main" val="1999610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6101" y="3550041"/>
            <a:ext cx="8238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96C06317-0269-A5FA-A8DF-B8DDF09DDD21}"/>
              </a:ext>
            </a:extLst>
          </p:cNvPr>
          <p:cNvSpPr txBox="1"/>
          <p:nvPr/>
        </p:nvSpPr>
        <p:spPr>
          <a:xfrm>
            <a:off x="638205" y="1131931"/>
            <a:ext cx="8238448" cy="102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8"/>
              </a:lnSpc>
              <a:spcBef>
                <a:spcPct val="0"/>
              </a:spcBef>
            </a:pPr>
            <a:r>
              <a:rPr lang="en-US" sz="8368" dirty="0">
                <a:solidFill>
                  <a:srgbClr val="000000"/>
                </a:solidFill>
                <a:latin typeface="One Little Font Bold"/>
              </a:rPr>
              <a:t>AMPICILINA</a:t>
            </a:r>
          </a:p>
        </p:txBody>
      </p:sp>
      <p:pic>
        <p:nvPicPr>
          <p:cNvPr id="2" name="Google Shape;590;p40">
            <a:extLst>
              <a:ext uri="{FF2B5EF4-FFF2-40B4-BE49-F238E27FC236}">
                <a16:creationId xmlns:a16="http://schemas.microsoft.com/office/drawing/2014/main" id="{A5C5A7CA-BBC5-057C-98F1-99DADC9632E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5394" t="33224" r="22895" b="23165"/>
          <a:stretch/>
        </p:blipFill>
        <p:spPr>
          <a:xfrm>
            <a:off x="2635621" y="3550041"/>
            <a:ext cx="10844464" cy="45078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7644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6" name="Freeform 6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6101" y="3550041"/>
            <a:ext cx="8238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pic>
        <p:nvPicPr>
          <p:cNvPr id="8" name="Google Shape;601;p42">
            <a:extLst>
              <a:ext uri="{FF2B5EF4-FFF2-40B4-BE49-F238E27FC236}">
                <a16:creationId xmlns:a16="http://schemas.microsoft.com/office/drawing/2014/main" id="{99099FC6-107B-721F-11BA-5F7AA4AA8D3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4039" t="26455" r="35153" b="4695"/>
          <a:stretch/>
        </p:blipFill>
        <p:spPr>
          <a:xfrm>
            <a:off x="3148715" y="305887"/>
            <a:ext cx="9526813" cy="9547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4618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5" name="Freeform 5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342C40F-DE1B-FB74-E972-B9469FE134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2990" y="1375178"/>
            <a:ext cx="14182019" cy="7696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510700" y="5904462"/>
            <a:ext cx="5276889" cy="3488187"/>
          </a:xfrm>
          <a:custGeom>
            <a:avLst/>
            <a:gdLst/>
            <a:ahLst/>
            <a:cxnLst/>
            <a:rect l="l" t="t" r="r" b="b"/>
            <a:pathLst>
              <a:path w="5276889" h="3488187">
                <a:moveTo>
                  <a:pt x="0" y="0"/>
                </a:moveTo>
                <a:lnTo>
                  <a:pt x="5276889" y="0"/>
                </a:lnTo>
                <a:lnTo>
                  <a:pt x="5276889" y="3488187"/>
                </a:lnTo>
                <a:lnTo>
                  <a:pt x="0" y="348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637" b="-7000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8713" y="7775966"/>
            <a:ext cx="4362478" cy="2655034"/>
          </a:xfrm>
          <a:custGeom>
            <a:avLst/>
            <a:gdLst/>
            <a:ahLst/>
            <a:cxnLst/>
            <a:rect l="l" t="t" r="r" b="b"/>
            <a:pathLst>
              <a:path w="4362478" h="2655034">
                <a:moveTo>
                  <a:pt x="0" y="0"/>
                </a:moveTo>
                <a:lnTo>
                  <a:pt x="4362478" y="0"/>
                </a:lnTo>
                <a:lnTo>
                  <a:pt x="4362478" y="2655034"/>
                </a:lnTo>
                <a:lnTo>
                  <a:pt x="0" y="265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070" b="-76521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3085180" y="2165454"/>
            <a:ext cx="6999109" cy="3406532"/>
          </a:xfrm>
          <a:custGeom>
            <a:avLst/>
            <a:gdLst/>
            <a:ahLst/>
            <a:cxnLst/>
            <a:rect l="l" t="t" r="r" b="b"/>
            <a:pathLst>
              <a:path w="6999109" h="3406532">
                <a:moveTo>
                  <a:pt x="0" y="0"/>
                </a:moveTo>
                <a:lnTo>
                  <a:pt x="6999109" y="0"/>
                </a:lnTo>
                <a:lnTo>
                  <a:pt x="6999109" y="3406532"/>
                </a:lnTo>
                <a:lnTo>
                  <a:pt x="0" y="340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97" b="-71684"/>
            </a:stretch>
          </a:blipFill>
        </p:spPr>
      </p:sp>
      <p:sp>
        <p:nvSpPr>
          <p:cNvPr id="5" name="Freeform 5"/>
          <p:cNvSpPr/>
          <p:nvPr/>
        </p:nvSpPr>
        <p:spPr>
          <a:xfrm rot="-2792722">
            <a:off x="11375337" y="-1733733"/>
            <a:ext cx="7015067" cy="6477290"/>
          </a:xfrm>
          <a:custGeom>
            <a:avLst/>
            <a:gdLst/>
            <a:ahLst/>
            <a:cxnLst/>
            <a:rect l="l" t="t" r="r" b="b"/>
            <a:pathLst>
              <a:path w="7015067" h="6477290">
                <a:moveTo>
                  <a:pt x="0" y="0"/>
                </a:moveTo>
                <a:lnTo>
                  <a:pt x="7015067" y="0"/>
                </a:lnTo>
                <a:lnTo>
                  <a:pt x="7015067" y="6477290"/>
                </a:lnTo>
                <a:lnTo>
                  <a:pt x="0" y="6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2" r="-1115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643702" y="2008003"/>
            <a:ext cx="10458313" cy="4564988"/>
          </a:xfrm>
          <a:custGeom>
            <a:avLst/>
            <a:gdLst/>
            <a:ahLst/>
            <a:cxnLst/>
            <a:rect l="l" t="t" r="r" b="b"/>
            <a:pathLst>
              <a:path w="10458313" h="4564988">
                <a:moveTo>
                  <a:pt x="0" y="0"/>
                </a:moveTo>
                <a:lnTo>
                  <a:pt x="10458312" y="0"/>
                </a:lnTo>
                <a:lnTo>
                  <a:pt x="10458312" y="4564988"/>
                </a:lnTo>
                <a:lnTo>
                  <a:pt x="0" y="4564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058481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337</Words>
  <Application>Microsoft Office PowerPoint</Application>
  <PresentationFormat>Personalizado</PresentationFormat>
  <Paragraphs>59</Paragraphs>
  <Slides>19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Wingdings</vt:lpstr>
      <vt:lpstr>One Little Font Bold</vt:lpstr>
      <vt:lpstr>Arial</vt:lpstr>
      <vt:lpstr>Calibri</vt:lpstr>
      <vt:lpstr>Clear Sans Thin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sepsis neonatal</dc:title>
  <cp:lastModifiedBy>Luciana Luna</cp:lastModifiedBy>
  <cp:revision>3</cp:revision>
  <dcterms:created xsi:type="dcterms:W3CDTF">2006-08-16T00:00:00Z</dcterms:created>
  <dcterms:modified xsi:type="dcterms:W3CDTF">2024-04-12T05:27:50Z</dcterms:modified>
  <dc:identifier>DAGCLPvEdCM</dc:identifier>
</cp:coreProperties>
</file>
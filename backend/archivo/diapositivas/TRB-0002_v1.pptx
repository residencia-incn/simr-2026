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8" r:id="rId3"/>
    <p:sldId id="270" r:id="rId4"/>
    <p:sldId id="271" r:id="rId5"/>
    <p:sldId id="287" r:id="rId6"/>
    <p:sldId id="288" r:id="rId7"/>
    <p:sldId id="289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9" r:id="rId17"/>
    <p:sldId id="281" r:id="rId18"/>
    <p:sldId id="282" r:id="rId19"/>
    <p:sldId id="284" r:id="rId20"/>
    <p:sldId id="280" r:id="rId21"/>
    <p:sldId id="285" r:id="rId22"/>
    <p:sldId id="290" r:id="rId23"/>
    <p:sldId id="286" r:id="rId24"/>
    <p:sldId id="265" r:id="rId25"/>
  </p:sldIdLst>
  <p:sldSz cx="18288000" cy="10287000"/>
  <p:notesSz cx="6858000" cy="9144000"/>
  <p:embeddedFontLst>
    <p:embeddedFont>
      <p:font typeface="Dream Avenue" panose="020B0604020202020204" charset="0"/>
      <p:regular r:id="rId26"/>
    </p:embeddedFont>
    <p:embeddedFont>
      <p:font typeface="Open Sans 2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032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7473" y="3397342"/>
            <a:ext cx="14453054" cy="3339275"/>
            <a:chOff x="0" y="0"/>
            <a:chExt cx="3369940" cy="7133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69940" cy="713378"/>
            </a:xfrm>
            <a:custGeom>
              <a:avLst/>
              <a:gdLst/>
              <a:ahLst/>
              <a:cxnLst/>
              <a:rect l="l" t="t" r="r" b="b"/>
              <a:pathLst>
                <a:path w="3369940" h="713378">
                  <a:moveTo>
                    <a:pt x="0" y="0"/>
                  </a:moveTo>
                  <a:lnTo>
                    <a:pt x="3369940" y="0"/>
                  </a:lnTo>
                  <a:lnTo>
                    <a:pt x="3369940" y="713378"/>
                  </a:lnTo>
                  <a:lnTo>
                    <a:pt x="0" y="713378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369940" cy="741953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06246" y="3987485"/>
            <a:ext cx="13399407" cy="2638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19"/>
              </a:lnSpc>
            </a:pPr>
            <a:r>
              <a:rPr lang="en-US" sz="11999" dirty="0" err="1">
                <a:solidFill>
                  <a:srgbClr val="000000"/>
                </a:solidFill>
                <a:latin typeface="Dream Avenue"/>
              </a:rPr>
              <a:t>Ventilación</a:t>
            </a:r>
            <a:r>
              <a:rPr lang="en-US" sz="11999" dirty="0">
                <a:solidFill>
                  <a:srgbClr val="000000"/>
                </a:solidFill>
                <a:latin typeface="Dream Avenue"/>
              </a:rPr>
              <a:t> </a:t>
            </a:r>
            <a:r>
              <a:rPr lang="en-US" sz="11999" dirty="0" err="1">
                <a:solidFill>
                  <a:srgbClr val="000000"/>
                </a:solidFill>
                <a:latin typeface="Dream Avenue"/>
              </a:rPr>
              <a:t>mecánica</a:t>
            </a:r>
            <a:r>
              <a:rPr lang="en-US" sz="11999" dirty="0">
                <a:solidFill>
                  <a:srgbClr val="000000"/>
                </a:solidFill>
                <a:latin typeface="Dream Avenue"/>
              </a:rPr>
              <a:t> </a:t>
            </a:r>
            <a:r>
              <a:rPr lang="en-US" sz="11999" dirty="0" err="1">
                <a:solidFill>
                  <a:srgbClr val="000000"/>
                </a:solidFill>
                <a:latin typeface="Dream Avenue"/>
              </a:rPr>
              <a:t>en</a:t>
            </a:r>
            <a:r>
              <a:rPr lang="en-US" sz="11999" dirty="0">
                <a:solidFill>
                  <a:srgbClr val="000000"/>
                </a:solidFill>
                <a:latin typeface="Dream Avenue"/>
              </a:rPr>
              <a:t> </a:t>
            </a:r>
            <a:r>
              <a:rPr lang="en-US" sz="11999" dirty="0" err="1">
                <a:solidFill>
                  <a:srgbClr val="000000"/>
                </a:solidFill>
                <a:latin typeface="Dream Avenue"/>
              </a:rPr>
              <a:t>neonatología</a:t>
            </a:r>
            <a:endParaRPr lang="en-US" sz="11999" dirty="0">
              <a:solidFill>
                <a:srgbClr val="000000"/>
              </a:solidFill>
              <a:latin typeface="Dream Avenue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512949" y="-1987342"/>
            <a:ext cx="4746351" cy="4746351"/>
          </a:xfrm>
          <a:custGeom>
            <a:avLst/>
            <a:gdLst/>
            <a:ahLst/>
            <a:cxnLst/>
            <a:rect l="l" t="t" r="r" b="b"/>
            <a:pathLst>
              <a:path w="4746351" h="4746351">
                <a:moveTo>
                  <a:pt x="0" y="0"/>
                </a:moveTo>
                <a:lnTo>
                  <a:pt x="4746351" y="0"/>
                </a:lnTo>
                <a:lnTo>
                  <a:pt x="4746351" y="4746352"/>
                </a:lnTo>
                <a:lnTo>
                  <a:pt x="0" y="4746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8098851"/>
            <a:ext cx="5380769" cy="2944748"/>
          </a:xfrm>
          <a:custGeom>
            <a:avLst/>
            <a:gdLst/>
            <a:ahLst/>
            <a:cxnLst/>
            <a:rect l="l" t="t" r="r" b="b"/>
            <a:pathLst>
              <a:path w="5380769" h="2944748">
                <a:moveTo>
                  <a:pt x="0" y="0"/>
                </a:moveTo>
                <a:lnTo>
                  <a:pt x="5380769" y="0"/>
                </a:lnTo>
                <a:lnTo>
                  <a:pt x="5380769" y="2944748"/>
                </a:lnTo>
                <a:lnTo>
                  <a:pt x="0" y="2944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34174" y="1565526"/>
            <a:ext cx="1917384" cy="1917384"/>
          </a:xfrm>
          <a:custGeom>
            <a:avLst/>
            <a:gdLst/>
            <a:ahLst/>
            <a:cxnLst/>
            <a:rect l="l" t="t" r="r" b="b"/>
            <a:pathLst>
              <a:path w="1917384" h="1917384">
                <a:moveTo>
                  <a:pt x="0" y="0"/>
                </a:moveTo>
                <a:lnTo>
                  <a:pt x="1917384" y="0"/>
                </a:lnTo>
                <a:lnTo>
                  <a:pt x="1917384" y="1917384"/>
                </a:lnTo>
                <a:lnTo>
                  <a:pt x="0" y="1917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59893" y="6862472"/>
            <a:ext cx="10568215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Open Sans 2"/>
              </a:rPr>
              <a:t>R1 Luciana Luna </a:t>
            </a:r>
            <a:r>
              <a:rPr lang="en-US" sz="2500" dirty="0" err="1">
                <a:solidFill>
                  <a:srgbClr val="000000"/>
                </a:solidFill>
                <a:latin typeface="Open Sans 2"/>
              </a:rPr>
              <a:t>Abanto</a:t>
            </a:r>
            <a:endParaRPr lang="en-US" sz="2500" dirty="0">
              <a:solidFill>
                <a:srgbClr val="000000"/>
              </a:solidFill>
              <a:latin typeface="Open Sans 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91AAA6A1-5EF5-ABFA-AC97-1F36B27498B0}"/>
              </a:ext>
            </a:extLst>
          </p:cNvPr>
          <p:cNvSpPr txBox="1"/>
          <p:nvPr/>
        </p:nvSpPr>
        <p:spPr>
          <a:xfrm>
            <a:off x="1981200" y="605024"/>
            <a:ext cx="10547524" cy="112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Ventilación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</a:t>
            </a: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mecánica</a:t>
            </a:r>
            <a:endParaRPr lang="en-US" sz="9000" dirty="0">
              <a:solidFill>
                <a:srgbClr val="000000"/>
              </a:solidFill>
              <a:latin typeface="Dream Avenue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7327454-88AE-DEB7-BC21-2299BFE8DCEA}"/>
              </a:ext>
            </a:extLst>
          </p:cNvPr>
          <p:cNvSpPr txBox="1"/>
          <p:nvPr/>
        </p:nvSpPr>
        <p:spPr>
          <a:xfrm>
            <a:off x="2667000" y="2732278"/>
            <a:ext cx="1257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dirty="0"/>
              <a:t>Es una forma de dar soporte respiratorio para mantener la función respiratoria en los pacientes en que esta falla.</a:t>
            </a:r>
          </a:p>
          <a:p>
            <a:r>
              <a:rPr lang="es-PE" sz="3200" dirty="0"/>
              <a:t>Equipos facilitan el intercambio gaseoso, entregando con cierta periodicidad un determinado volumen o flujo de una mezcla de gases, enriquecida con oxígeno</a:t>
            </a:r>
          </a:p>
          <a:p>
            <a:r>
              <a:rPr lang="es-PE" sz="3200" dirty="0"/>
              <a:t>Invasiva o no invasiva</a:t>
            </a:r>
          </a:p>
          <a:p>
            <a:endParaRPr lang="es-PE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89C20C-0412-58C6-D940-F037B0536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513" y="5295900"/>
            <a:ext cx="4622974" cy="344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075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8001000" y="2949845"/>
            <a:ext cx="92964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Vía aérea es más corta, menos ramificada y más fácil de distender y colapsar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Mayor distensibilidad de la pared torácica pero distensibilidad pulmonar menor (inmadurez)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Inmadurez sistemas enzimáticos antioxidantes </a:t>
            </a:r>
            <a:r>
              <a:rPr lang="es-PE" sz="3200" dirty="0">
                <a:sym typeface="Wingdings" panose="05000000000000000000" pitchFamily="2" charset="2"/>
              </a:rPr>
              <a:t> favorecen el daño pulmonar (DBP)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Hiperoxia o oscilaciones bruscas </a:t>
            </a:r>
            <a:r>
              <a:rPr lang="es-PE" sz="3200" dirty="0">
                <a:sym typeface="Wingdings" panose="05000000000000000000" pitchFamily="2" charset="2"/>
              </a:rPr>
              <a:t> aumentan riesgo ROP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>
                <a:sym typeface="Wingdings" panose="05000000000000000000" pitchFamily="2" charset="2"/>
              </a:rPr>
              <a:t>Hiperventilación con </a:t>
            </a:r>
            <a:r>
              <a:rPr lang="es-PE" sz="3200" dirty="0" err="1">
                <a:sym typeface="Wingdings" panose="05000000000000000000" pitchFamily="2" charset="2"/>
              </a:rPr>
              <a:t>hipocapnea</a:t>
            </a:r>
            <a:r>
              <a:rPr lang="es-PE" sz="3200" dirty="0">
                <a:sym typeface="Wingdings" panose="05000000000000000000" pitchFamily="2" charset="2"/>
              </a:rPr>
              <a:t>  disminución del flujo cerebral (LPV)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200" y="605024"/>
            <a:ext cx="10547524" cy="1125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Peculiaridades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del RN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A0D8179-702F-0CF7-4A02-3A6907468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96" y="3481674"/>
            <a:ext cx="7221733" cy="470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78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9867151" y="2881342"/>
            <a:ext cx="69022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 err="1"/>
              <a:t>Vol</a:t>
            </a:r>
            <a:r>
              <a:rPr lang="es-PE" sz="3200" dirty="0"/>
              <a:t> corriente o </a:t>
            </a:r>
            <a:r>
              <a:rPr lang="es-PE" sz="3200" dirty="0" err="1"/>
              <a:t>Vol</a:t>
            </a:r>
            <a:r>
              <a:rPr lang="es-PE" sz="3200" dirty="0"/>
              <a:t> </a:t>
            </a:r>
            <a:r>
              <a:rPr lang="es-PE" sz="3200" dirty="0" err="1"/>
              <a:t>tidal</a:t>
            </a:r>
            <a:r>
              <a:rPr lang="es-PE" sz="3200" dirty="0"/>
              <a:t> </a:t>
            </a:r>
            <a:r>
              <a:rPr lang="es-PE" sz="3200" dirty="0">
                <a:sym typeface="Wingdings" panose="05000000000000000000" pitchFamily="2" charset="2"/>
              </a:rPr>
              <a:t> </a:t>
            </a:r>
            <a:r>
              <a:rPr lang="es-PE" sz="3200" dirty="0" err="1">
                <a:sym typeface="Wingdings" panose="05000000000000000000" pitchFamily="2" charset="2"/>
              </a:rPr>
              <a:t>vol</a:t>
            </a:r>
            <a:r>
              <a:rPr lang="es-PE" sz="3200" dirty="0">
                <a:sym typeface="Wingdings" panose="05000000000000000000" pitchFamily="2" charset="2"/>
              </a:rPr>
              <a:t> de aire que se moviliza en cada ciclo respiratorio </a:t>
            </a:r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5-7ml/kg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PEEP: Presión positiva al final espiración </a:t>
            </a:r>
            <a:r>
              <a:rPr lang="es-PE" sz="3200" dirty="0">
                <a:sym typeface="Wingdings" panose="05000000000000000000" pitchFamily="2" charset="2"/>
              </a:rPr>
              <a:t>(mantiene al alveolo abierto)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>
                <a:sym typeface="Wingdings" panose="05000000000000000000" pitchFamily="2" charset="2"/>
              </a:rPr>
              <a:t>PIP-PIM: Presión </a:t>
            </a:r>
            <a:r>
              <a:rPr lang="es-PE" sz="3200" dirty="0" err="1">
                <a:sym typeface="Wingdings" panose="05000000000000000000" pitchFamily="2" charset="2"/>
              </a:rPr>
              <a:t>generda</a:t>
            </a:r>
            <a:r>
              <a:rPr lang="es-PE" sz="3200" dirty="0">
                <a:sym typeface="Wingdings" panose="05000000000000000000" pitchFamily="2" charset="2"/>
              </a:rPr>
              <a:t> para </a:t>
            </a:r>
            <a:r>
              <a:rPr lang="es-PE" sz="3200" dirty="0" err="1">
                <a:sym typeface="Wingdings" panose="05000000000000000000" pitchFamily="2" charset="2"/>
              </a:rPr>
              <a:t>venver</a:t>
            </a:r>
            <a:r>
              <a:rPr lang="es-PE" sz="3200" dirty="0">
                <a:sym typeface="Wingdings" panose="05000000000000000000" pitchFamily="2" charset="2"/>
              </a:rPr>
              <a:t> elementos elásticos como resistivos a la entrada del volumen </a:t>
            </a:r>
            <a:endParaRPr lang="es-PE" sz="3200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200" y="605024"/>
            <a:ext cx="10547524" cy="112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Ciclo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</a:t>
            </a: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respiratorio</a:t>
            </a:r>
            <a:endParaRPr lang="en-US" sz="9000" dirty="0">
              <a:solidFill>
                <a:srgbClr val="000000"/>
              </a:solidFill>
              <a:latin typeface="Dream Avenue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9EEF24D-0D28-E740-99A7-AA6A9D8FFA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155"/>
          <a:stretch/>
        </p:blipFill>
        <p:spPr>
          <a:xfrm>
            <a:off x="228600" y="2709522"/>
            <a:ext cx="9144000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6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2971800" y="2212584"/>
            <a:ext cx="115824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b="1" dirty="0" err="1"/>
              <a:t>Vol</a:t>
            </a:r>
            <a:r>
              <a:rPr lang="es-PE" sz="3200" b="1" dirty="0"/>
              <a:t> corriente o </a:t>
            </a:r>
            <a:r>
              <a:rPr lang="es-PE" sz="3200" b="1" dirty="0" err="1"/>
              <a:t>Vol</a:t>
            </a:r>
            <a:r>
              <a:rPr lang="es-PE" sz="3200" b="1" dirty="0"/>
              <a:t> </a:t>
            </a:r>
            <a:r>
              <a:rPr lang="es-PE" sz="3200" b="1" dirty="0" err="1"/>
              <a:t>tidal</a:t>
            </a:r>
            <a:r>
              <a:rPr lang="es-PE" sz="3200" b="1" dirty="0"/>
              <a:t> </a:t>
            </a:r>
            <a:r>
              <a:rPr lang="es-PE" sz="3200" dirty="0">
                <a:sym typeface="Wingdings" panose="05000000000000000000" pitchFamily="2" charset="2"/>
              </a:rPr>
              <a:t> </a:t>
            </a:r>
            <a:r>
              <a:rPr lang="es-PE" sz="3200" dirty="0" err="1">
                <a:sym typeface="Wingdings" panose="05000000000000000000" pitchFamily="2" charset="2"/>
              </a:rPr>
              <a:t>vol</a:t>
            </a:r>
            <a:r>
              <a:rPr lang="es-PE" sz="3200" dirty="0">
                <a:sym typeface="Wingdings" panose="05000000000000000000" pitchFamily="2" charset="2"/>
              </a:rPr>
              <a:t> de aire que se moviliza en cada ciclo respiratorio </a:t>
            </a:r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5-7ml/kg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b="1" dirty="0" err="1">
                <a:sym typeface="Wingdings" panose="05000000000000000000" pitchFamily="2" charset="2"/>
              </a:rPr>
              <a:t>Vol</a:t>
            </a:r>
            <a:r>
              <a:rPr lang="es-PE" sz="3200" b="1" dirty="0">
                <a:sym typeface="Wingdings" panose="05000000000000000000" pitchFamily="2" charset="2"/>
              </a:rPr>
              <a:t> del espacio muerto (VD) </a:t>
            </a:r>
            <a:r>
              <a:rPr lang="es-PE" sz="3200" dirty="0">
                <a:sym typeface="Wingdings" panose="05000000000000000000" pitchFamily="2" charset="2"/>
              </a:rPr>
              <a:t> volumen movilizado en cada ciclo, no realiza intercambio gaseoso. 1/3 VC </a:t>
            </a:r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1.5-2 ml/kg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b="1" dirty="0" err="1">
                <a:sym typeface="Wingdings" panose="05000000000000000000" pitchFamily="2" charset="2"/>
              </a:rPr>
              <a:t>Compliance</a:t>
            </a:r>
            <a:r>
              <a:rPr lang="es-PE" sz="3200" b="1" dirty="0">
                <a:sym typeface="Wingdings" panose="05000000000000000000" pitchFamily="2" charset="2"/>
              </a:rPr>
              <a:t> (CL) </a:t>
            </a:r>
            <a:r>
              <a:rPr lang="es-PE" sz="3200" dirty="0">
                <a:sym typeface="Wingdings" panose="05000000000000000000" pitchFamily="2" charset="2"/>
              </a:rPr>
              <a:t> </a:t>
            </a:r>
            <a:r>
              <a:rPr lang="es-PE" sz="3200" dirty="0" err="1">
                <a:sym typeface="Wingdings" panose="05000000000000000000" pitchFamily="2" charset="2"/>
              </a:rPr>
              <a:t>elasticiadad</a:t>
            </a:r>
            <a:r>
              <a:rPr lang="es-PE" sz="3200" dirty="0">
                <a:sym typeface="Wingdings" panose="05000000000000000000" pitchFamily="2" charset="2"/>
              </a:rPr>
              <a:t> o adaptabilidad del tejido pulmonar </a:t>
            </a:r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3-6 ml/cmH2O de presión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b="1" dirty="0">
                <a:sym typeface="Wingdings" panose="05000000000000000000" pitchFamily="2" charset="2"/>
              </a:rPr>
              <a:t>Resistencia (R) </a:t>
            </a:r>
            <a:r>
              <a:rPr lang="es-PE" sz="3200" dirty="0">
                <a:sym typeface="Wingdings" panose="05000000000000000000" pitchFamily="2" charset="2"/>
              </a:rPr>
              <a:t>dificultad se encuentra el gas al pasar por la vía aérea. Resistencia tisular y </a:t>
            </a:r>
            <a:r>
              <a:rPr lang="es-PE" sz="3200" dirty="0" err="1">
                <a:sym typeface="Wingdings" panose="05000000000000000000" pitchFamily="2" charset="2"/>
              </a:rPr>
              <a:t>vias</a:t>
            </a:r>
            <a:r>
              <a:rPr lang="es-PE" sz="3200" dirty="0">
                <a:sym typeface="Wingdings" panose="05000000000000000000" pitchFamily="2" charset="2"/>
              </a:rPr>
              <a:t> respiratorias. </a:t>
            </a:r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20-40 cmH2O/l/</a:t>
            </a:r>
            <a:r>
              <a:rPr lang="es-PE" sz="32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seg</a:t>
            </a:r>
            <a:endParaRPr lang="es-PE" sz="32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b="1" dirty="0">
                <a:sym typeface="Wingdings" panose="05000000000000000000" pitchFamily="2" charset="2"/>
              </a:rPr>
              <a:t>Constante de tiempo (</a:t>
            </a:r>
            <a:r>
              <a:rPr lang="es-PE" sz="3200" b="1" dirty="0" err="1">
                <a:sym typeface="Wingdings" panose="05000000000000000000" pitchFamily="2" charset="2"/>
              </a:rPr>
              <a:t>Kt</a:t>
            </a:r>
            <a:r>
              <a:rPr lang="es-PE" sz="3200" b="1" dirty="0">
                <a:sym typeface="Wingdings" panose="05000000000000000000" pitchFamily="2" charset="2"/>
              </a:rPr>
              <a:t>) </a:t>
            </a:r>
            <a:r>
              <a:rPr lang="es-PE" sz="3200" dirty="0">
                <a:sym typeface="Wingdings" panose="05000000000000000000" pitchFamily="2" charset="2"/>
              </a:rPr>
              <a:t> Es el tiempo necesario para que la presión alveolar alcance el 63% del cambio de presión de </a:t>
            </a:r>
            <a:r>
              <a:rPr lang="es-PE" sz="3200" dirty="0" err="1">
                <a:sym typeface="Wingdings" panose="05000000000000000000" pitchFamily="2" charset="2"/>
              </a:rPr>
              <a:t>vias</a:t>
            </a:r>
            <a:r>
              <a:rPr lang="es-PE" sz="3200" dirty="0">
                <a:sym typeface="Wingdings" panose="05000000000000000000" pitchFamily="2" charset="2"/>
              </a:rPr>
              <a:t> aéreas. 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200" y="605024"/>
            <a:ext cx="10547524" cy="1125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Fisiología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</a:t>
            </a: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pulmonar</a:t>
            </a:r>
            <a:endParaRPr lang="en-US" sz="9000" dirty="0">
              <a:solidFill>
                <a:srgbClr val="000000"/>
              </a:solidFill>
              <a:latin typeface="Dream Avenue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CF1699C-14EF-4ACB-BB45-8CF4C065D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697" y="8299558"/>
            <a:ext cx="13182606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1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2971800" y="2212584"/>
            <a:ext cx="1158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>
                <a:sym typeface="Wingdings" panose="05000000000000000000" pitchFamily="2" charset="2"/>
              </a:rPr>
              <a:t>Son de utilidad para valorar la gravedad de la enfermedad respiratoria y la intensidad de la ventilación mecánica en el transcurso de la enfermedad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200" y="605024"/>
            <a:ext cx="15316200" cy="108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8000" dirty="0">
                <a:solidFill>
                  <a:srgbClr val="000000"/>
                </a:solidFill>
                <a:latin typeface="Dream Avenue"/>
              </a:rPr>
              <a:t>Indices de </a:t>
            </a: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oxigenación</a:t>
            </a:r>
            <a:r>
              <a:rPr lang="en-US" sz="8000" dirty="0">
                <a:solidFill>
                  <a:srgbClr val="000000"/>
                </a:solidFill>
                <a:latin typeface="Dream Avenue"/>
              </a:rPr>
              <a:t> y </a:t>
            </a: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ventilación</a:t>
            </a:r>
            <a:endParaRPr lang="en-US" sz="8000" dirty="0">
              <a:solidFill>
                <a:srgbClr val="000000"/>
              </a:solidFill>
              <a:latin typeface="Dream Avenue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75B41CE-B0DC-3769-FBB4-62F60C9494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37" t="29169" r="35947" b="31394"/>
          <a:stretch/>
        </p:blipFill>
        <p:spPr>
          <a:xfrm>
            <a:off x="3647348" y="4381500"/>
            <a:ext cx="10231304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7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200" y="605024"/>
            <a:ext cx="15316200" cy="108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8000" dirty="0">
                <a:solidFill>
                  <a:srgbClr val="000000"/>
                </a:solidFill>
                <a:latin typeface="Dream Avenue"/>
              </a:rPr>
              <a:t>Indices de </a:t>
            </a: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oxigenación</a:t>
            </a:r>
            <a:r>
              <a:rPr lang="en-US" sz="8000" dirty="0">
                <a:solidFill>
                  <a:srgbClr val="000000"/>
                </a:solidFill>
                <a:latin typeface="Dream Avenue"/>
              </a:rPr>
              <a:t> y </a:t>
            </a: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ventilación</a:t>
            </a:r>
            <a:endParaRPr lang="en-US" sz="8000" dirty="0">
              <a:solidFill>
                <a:srgbClr val="000000"/>
              </a:solidFill>
              <a:latin typeface="Dream Avenue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9418C8-6BF9-9FB1-BB5B-865888F8B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297" y="2286198"/>
            <a:ext cx="9583794" cy="325487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32C6ABF-1907-0B93-0314-E07CF68E2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16" y="6170230"/>
            <a:ext cx="17186555" cy="295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06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9952711" y="2252363"/>
            <a:ext cx="833528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Inicia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200" b="1" dirty="0">
                <a:solidFill>
                  <a:srgbClr val="FF0000"/>
                </a:solidFill>
              </a:rPr>
              <a:t>No sincronizada </a:t>
            </a:r>
            <a:r>
              <a:rPr lang="es-PE" sz="3200" dirty="0">
                <a:sym typeface="Wingdings" panose="05000000000000000000" pitchFamily="2" charset="2"/>
              </a:rPr>
              <a:t> Ventilador dispara independientemente del esfuerzo del paciente  Ventilación </a:t>
            </a:r>
            <a:r>
              <a:rPr lang="es-PE" sz="3200" dirty="0" err="1">
                <a:sym typeface="Wingdings" panose="05000000000000000000" pitchFamily="2" charset="2"/>
              </a:rPr>
              <a:t>mandatoria</a:t>
            </a:r>
            <a:r>
              <a:rPr lang="es-PE" sz="3200" dirty="0">
                <a:sym typeface="Wingdings" panose="05000000000000000000" pitchFamily="2" charset="2"/>
              </a:rPr>
              <a:t> intermitente IMV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Sincronizada</a:t>
            </a:r>
            <a:r>
              <a:rPr lang="es-PE" sz="3200" dirty="0">
                <a:sym typeface="Wingdings" panose="05000000000000000000" pitchFamily="2" charset="2"/>
              </a:rPr>
              <a:t>  Inicia por el esfuerzo respiratorio del paciente  SIMV, AC, PSV (ventilación soportada por presión)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Como se controla limita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200" dirty="0"/>
              <a:t>Presión </a:t>
            </a:r>
            <a:r>
              <a:rPr lang="es-PE" sz="3200" dirty="0">
                <a:sym typeface="Wingdings" panose="05000000000000000000" pitchFamily="2" charset="2"/>
              </a:rPr>
              <a:t> Limito por presiones PEEP, PIP. </a:t>
            </a:r>
            <a:r>
              <a:rPr lang="es-PE" sz="3200" dirty="0" err="1">
                <a:sym typeface="Wingdings" panose="05000000000000000000" pitchFamily="2" charset="2"/>
              </a:rPr>
              <a:t>Vol</a:t>
            </a:r>
            <a:r>
              <a:rPr lang="es-PE" sz="3200" dirty="0">
                <a:sym typeface="Wingdings" panose="05000000000000000000" pitchFamily="2" charset="2"/>
              </a:rPr>
              <a:t> varia  SIMV, IMV, A/C, PSA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200" dirty="0">
                <a:sym typeface="Wingdings" panose="05000000000000000000" pitchFamily="2" charset="2"/>
              </a:rPr>
              <a:t>Volumen  Limita por </a:t>
            </a:r>
            <a:r>
              <a:rPr lang="es-PE" sz="3200" dirty="0" err="1">
                <a:sym typeface="Wingdings" panose="05000000000000000000" pitchFamily="2" charset="2"/>
              </a:rPr>
              <a:t>Vol</a:t>
            </a:r>
            <a:r>
              <a:rPr lang="es-PE" sz="3200" dirty="0">
                <a:sym typeface="Wingdings" panose="05000000000000000000" pitchFamily="2" charset="2"/>
              </a:rPr>
              <a:t> </a:t>
            </a:r>
            <a:r>
              <a:rPr lang="es-PE" sz="3200" dirty="0" err="1">
                <a:sym typeface="Wingdings" panose="05000000000000000000" pitchFamily="2" charset="2"/>
              </a:rPr>
              <a:t>tidal</a:t>
            </a:r>
            <a:r>
              <a:rPr lang="es-PE" sz="3200" dirty="0">
                <a:sym typeface="Wingdings" panose="05000000000000000000" pitchFamily="2" charset="2"/>
              </a:rPr>
              <a:t>. Adultos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>
                <a:sym typeface="Wingdings" panose="05000000000000000000" pitchFamily="2" charset="2"/>
              </a:rPr>
              <a:t>Cómo termina/ciclado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200" dirty="0">
                <a:sym typeface="Wingdings" panose="05000000000000000000" pitchFamily="2" charset="2"/>
              </a:rPr>
              <a:t>Tiempo  Ti  SIMV, IMV, A/C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200" dirty="0">
                <a:sym typeface="Wingdings" panose="05000000000000000000" pitchFamily="2" charset="2"/>
              </a:rPr>
              <a:t>Flujo/volumen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199" y="605024"/>
            <a:ext cx="14788227" cy="112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>
                <a:solidFill>
                  <a:srgbClr val="000000"/>
                </a:solidFill>
                <a:latin typeface="Dream Avenue"/>
              </a:rPr>
              <a:t>MODOS VM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6DDDE02-5281-849C-0C5C-41069FF9BD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25" t="25004" r="60540" b="36460"/>
          <a:stretch/>
        </p:blipFill>
        <p:spPr>
          <a:xfrm>
            <a:off x="228599" y="2472540"/>
            <a:ext cx="9720145" cy="678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87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1981199" y="2193669"/>
            <a:ext cx="157400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VENTILACIÓN MANDATORIA INTERMITENTE (IMV)</a:t>
            </a:r>
          </a:p>
          <a:p>
            <a:pPr lvl="1"/>
            <a:endParaRPr lang="es-PE" sz="3200" dirty="0">
              <a:sym typeface="Wingdings" panose="05000000000000000000" pitchFamily="2" charset="2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199" y="605024"/>
            <a:ext cx="14788227" cy="112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>
                <a:solidFill>
                  <a:srgbClr val="000000"/>
                </a:solidFill>
                <a:latin typeface="Dream Avenue"/>
              </a:rPr>
              <a:t>VMC NO SINCRONIZADA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976417D-F845-0FE0-A86B-1DE1D79D49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550" t="23962" r="19550" b="31252"/>
          <a:stretch/>
        </p:blipFill>
        <p:spPr>
          <a:xfrm>
            <a:off x="3154326" y="2949845"/>
            <a:ext cx="11979348" cy="4953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F874C4-B590-2822-6D19-D2F0A629F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39" y="8272948"/>
            <a:ext cx="13575146" cy="140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1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199" y="605024"/>
            <a:ext cx="14788227" cy="112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>
                <a:solidFill>
                  <a:srgbClr val="000000"/>
                </a:solidFill>
                <a:latin typeface="Dream Avenue"/>
              </a:rPr>
              <a:t>VMC SINCRONIZADA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40E6D7-8709-86BB-E8D6-02F294FD5F9C}"/>
              </a:ext>
            </a:extLst>
          </p:cNvPr>
          <p:cNvSpPr txBox="1"/>
          <p:nvPr/>
        </p:nvSpPr>
        <p:spPr>
          <a:xfrm>
            <a:off x="9375312" y="4381500"/>
            <a:ext cx="762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Son modalidades en las que el ciclo del respirador empieza en respuesta al inicio de respiración espontanea del paciente</a:t>
            </a:r>
          </a:p>
        </p:txBody>
      </p:sp>
      <p:pic>
        <p:nvPicPr>
          <p:cNvPr id="4098" name="Picture 2" descr="Ventilación mecánica en pediatría - Océano Medicina Venezuela">
            <a:extLst>
              <a:ext uri="{FF2B5EF4-FFF2-40B4-BE49-F238E27FC236}">
                <a16:creationId xmlns:a16="http://schemas.microsoft.com/office/drawing/2014/main" id="{A1BCAD81-6EC2-E291-7A44-B25666C5EB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00"/>
          <a:stretch/>
        </p:blipFill>
        <p:spPr bwMode="auto">
          <a:xfrm>
            <a:off x="876301" y="2870510"/>
            <a:ext cx="8267699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618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1981199" y="2193669"/>
            <a:ext cx="157400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VENTILACIÓN MANDATORIA INTERMITENTE SINCRONIZADA (SIMV)</a:t>
            </a:r>
          </a:p>
          <a:p>
            <a:pPr lvl="1"/>
            <a:endParaRPr lang="es-PE" sz="3200" dirty="0">
              <a:sym typeface="Wingdings" panose="05000000000000000000" pitchFamily="2" charset="2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199" y="605024"/>
            <a:ext cx="14788227" cy="112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>
                <a:solidFill>
                  <a:srgbClr val="000000"/>
                </a:solidFill>
                <a:latin typeface="Dream Avenue"/>
              </a:rPr>
              <a:t>VMC SINCRONIZADA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62947B9-EADA-A3D4-4E45-51ECF282D1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08" t="20017" r="18379" b="45834"/>
          <a:stretch/>
        </p:blipFill>
        <p:spPr>
          <a:xfrm>
            <a:off x="566731" y="2949845"/>
            <a:ext cx="10682772" cy="318425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AF40501-FFB2-5798-58AE-F6BAAB5B80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109" t="54166" r="44730" b="31130"/>
          <a:stretch/>
        </p:blipFill>
        <p:spPr>
          <a:xfrm>
            <a:off x="32708" y="6337544"/>
            <a:ext cx="12753334" cy="250068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1EC9F2D-FDAB-71B8-0950-FE900596AEC5}"/>
              </a:ext>
            </a:extLst>
          </p:cNvPr>
          <p:cNvSpPr txBox="1"/>
          <p:nvPr/>
        </p:nvSpPr>
        <p:spPr>
          <a:xfrm>
            <a:off x="12479228" y="3063569"/>
            <a:ext cx="55364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Respirador envía numero de ciclos fijados de forma sincronizada con el esfuerzo inspiratorio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Si la FR del paciente es superior, se intercalan, si es menor algunos estarán sincronizados y otros no</a:t>
            </a:r>
          </a:p>
        </p:txBody>
      </p:sp>
    </p:spTree>
    <p:extLst>
      <p:ext uri="{BB962C8B-B14F-4D97-AF65-F5344CB8AC3E}">
        <p14:creationId xmlns:p14="http://schemas.microsoft.com/office/powerpoint/2010/main" val="3818464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1981199" y="2193669"/>
            <a:ext cx="157400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VENTILACIÓN ASISTIDA CONTROLADA (A/C)</a:t>
            </a:r>
          </a:p>
          <a:p>
            <a:pPr lvl="1"/>
            <a:endParaRPr lang="es-PE" sz="3200" dirty="0">
              <a:sym typeface="Wingdings" panose="05000000000000000000" pitchFamily="2" charset="2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199" y="605024"/>
            <a:ext cx="14788227" cy="112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>
                <a:solidFill>
                  <a:srgbClr val="000000"/>
                </a:solidFill>
                <a:latin typeface="Dream Avenue"/>
              </a:rPr>
              <a:t>VMC SINCRONIZADA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EC9F2D-FDAB-71B8-0950-FE900596AEC5}"/>
              </a:ext>
            </a:extLst>
          </p:cNvPr>
          <p:cNvSpPr txBox="1"/>
          <p:nvPr/>
        </p:nvSpPr>
        <p:spPr>
          <a:xfrm>
            <a:off x="11919483" y="1997014"/>
            <a:ext cx="6368517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Todas las respiraciones el paciente que excedan el umbral de sensibilidad inician una respiración mecánica con parámetros prefijados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Apnea o esfuerzo inspiratorio insuficiente </a:t>
            </a:r>
            <a:r>
              <a:rPr lang="es-PE" sz="3600" dirty="0">
                <a:sym typeface="Wingdings" panose="05000000000000000000" pitchFamily="2" charset="2"/>
              </a:rPr>
              <a:t> garantizar respiraciones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>
                <a:sym typeface="Wingdings" panose="05000000000000000000" pitchFamily="2" charset="2"/>
              </a:rPr>
              <a:t>Garantiza </a:t>
            </a:r>
            <a:r>
              <a:rPr lang="es-PE" sz="3600" dirty="0" err="1">
                <a:sym typeface="Wingdings" panose="05000000000000000000" pitchFamily="2" charset="2"/>
              </a:rPr>
              <a:t>Vt</a:t>
            </a:r>
            <a:r>
              <a:rPr lang="es-PE" sz="3600" dirty="0">
                <a:sym typeface="Wingdings" panose="05000000000000000000" pitchFamily="2" charset="2"/>
              </a:rPr>
              <a:t> más homogéneo y previene la fatiga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>
                <a:sym typeface="Wingdings" panose="05000000000000000000" pitchFamily="2" charset="2"/>
              </a:rPr>
              <a:t>Suele aplicar en las fases iniciales para acoplar al ventilador</a:t>
            </a:r>
            <a:endParaRPr lang="es-PE" sz="36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3CC6F7A-658C-A2F2-9E98-E9F410668D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67" t="24359" r="18605" b="27951"/>
          <a:stretch/>
        </p:blipFill>
        <p:spPr>
          <a:xfrm>
            <a:off x="0" y="3297347"/>
            <a:ext cx="11919483" cy="50070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FCAA32F-18C7-EDCA-14E8-5FB1A1756E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794" t="75595" r="19551" b="9681"/>
          <a:stretch/>
        </p:blipFill>
        <p:spPr>
          <a:xfrm>
            <a:off x="380999" y="8293349"/>
            <a:ext cx="11201401" cy="14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23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1981199" y="2193669"/>
            <a:ext cx="157400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PE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VENTILACIÓN POR PRESIÓN SOPORTE (PSV)</a:t>
            </a:r>
          </a:p>
          <a:p>
            <a:pPr lvl="1"/>
            <a:endParaRPr lang="es-PE" sz="3200" dirty="0">
              <a:sym typeface="Wingdings" panose="05000000000000000000" pitchFamily="2" charset="2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199" y="605024"/>
            <a:ext cx="14788227" cy="112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>
                <a:solidFill>
                  <a:srgbClr val="000000"/>
                </a:solidFill>
                <a:latin typeface="Dream Avenue"/>
              </a:rPr>
              <a:t>VMC SINCRONIZADA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EC9F2D-FDAB-71B8-0950-FE900596AEC5}"/>
              </a:ext>
            </a:extLst>
          </p:cNvPr>
          <p:cNvSpPr txBox="1"/>
          <p:nvPr/>
        </p:nvSpPr>
        <p:spPr>
          <a:xfrm>
            <a:off x="11919483" y="1997014"/>
            <a:ext cx="63685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Es una forma de ayudar a la respiración espontanea con una presión inspiratoria mecánica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La respiración espontanea que induce el inicia del ciclo  da lugar a una respiración mecánica limitada por presión y ciclada por flujo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4E87479-B09F-90E5-EAF5-715CA9BDE7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994" t="21501" r="22449" b="26724"/>
          <a:stretch/>
        </p:blipFill>
        <p:spPr>
          <a:xfrm>
            <a:off x="914400" y="3422868"/>
            <a:ext cx="9567222" cy="47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46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199" y="605024"/>
            <a:ext cx="14788227" cy="112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>
                <a:solidFill>
                  <a:srgbClr val="000000"/>
                </a:solidFill>
                <a:latin typeface="Dream Avenue"/>
              </a:rPr>
              <a:t>VMC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5153AAC-0E30-914C-DBFA-16AA81FC9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63" y="3673680"/>
            <a:ext cx="17396261" cy="418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6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3713F18-B5B4-49D7-3F44-9DA53C1D6997}"/>
              </a:ext>
            </a:extLst>
          </p:cNvPr>
          <p:cNvSpPr txBox="1"/>
          <p:nvPr/>
        </p:nvSpPr>
        <p:spPr>
          <a:xfrm>
            <a:off x="1981199" y="605024"/>
            <a:ext cx="14788227" cy="112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>
                <a:solidFill>
                  <a:srgbClr val="000000"/>
                </a:solidFill>
                <a:latin typeface="Dream Avenue"/>
              </a:rPr>
              <a:t>VMC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EC9F2D-FDAB-71B8-0950-FE900596AEC5}"/>
              </a:ext>
            </a:extLst>
          </p:cNvPr>
          <p:cNvSpPr txBox="1"/>
          <p:nvPr/>
        </p:nvSpPr>
        <p:spPr>
          <a:xfrm>
            <a:off x="1923686" y="2124912"/>
            <a:ext cx="16034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VM por volumen disminuye la duración de la ventilación, las tasas de neumotórax y hemorragia intraventricular grave y tiende a disminuir DBP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7678AA2-FAE2-220F-36E9-F9217ED45B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915" t="35011" r="9771" b="29578"/>
          <a:stretch/>
        </p:blipFill>
        <p:spPr>
          <a:xfrm>
            <a:off x="1295400" y="3886441"/>
            <a:ext cx="15063795" cy="497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12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EA6EE4B-522F-6A0F-5791-B14769F5329C}"/>
              </a:ext>
            </a:extLst>
          </p:cNvPr>
          <p:cNvSpPr txBox="1"/>
          <p:nvPr/>
        </p:nvSpPr>
        <p:spPr>
          <a:xfrm>
            <a:off x="1981200" y="605024"/>
            <a:ext cx="10547524" cy="112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Indicaciones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de VM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2362200" y="2178189"/>
            <a:ext cx="7620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Falla respiratoria: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Criterios clínicos: retracciones, quejido, FR &gt;60, cianosis central, apnea intratable, disminución de actividad y movimiento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b="1" dirty="0">
                <a:solidFill>
                  <a:srgbClr val="FF0000"/>
                </a:solidFill>
              </a:rPr>
              <a:t>PCO2&gt;60 mmHg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b="1" dirty="0">
                <a:solidFill>
                  <a:srgbClr val="FF0000"/>
                </a:solidFill>
              </a:rPr>
              <a:t>PO2&lt;50 mmHg </a:t>
            </a:r>
            <a:r>
              <a:rPr lang="es-PE" sz="3600" dirty="0"/>
              <a:t>o </a:t>
            </a:r>
            <a:r>
              <a:rPr lang="es-PE" sz="3600" dirty="0" err="1"/>
              <a:t>sat</a:t>
            </a:r>
            <a:r>
              <a:rPr lang="es-PE" sz="3600" dirty="0"/>
              <a:t> &gt;90% con FIO2 &gt;60%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b="1" dirty="0" err="1">
                <a:solidFill>
                  <a:srgbClr val="FF0000"/>
                </a:solidFill>
              </a:rPr>
              <a:t>Ph</a:t>
            </a:r>
            <a:r>
              <a:rPr lang="es-PE" sz="3600" b="1" dirty="0">
                <a:solidFill>
                  <a:srgbClr val="FF0000"/>
                </a:solidFill>
              </a:rPr>
              <a:t>&lt;7.2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b="1" dirty="0">
                <a:solidFill>
                  <a:srgbClr val="FF0000"/>
                </a:solidFill>
              </a:rPr>
              <a:t>Falla CPAP </a:t>
            </a:r>
            <a:r>
              <a:rPr lang="es-PE" sz="3600" dirty="0"/>
              <a:t>FIO2&gt;30% PEEP &gt;=6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Contraindicaciones: MAFC incompatibles</a:t>
            </a:r>
          </a:p>
        </p:txBody>
      </p:sp>
      <p:pic>
        <p:nvPicPr>
          <p:cNvPr id="2050" name="Picture 2" descr="Guía de Procedimiento: Cuidados de Enfermería en pacientes Neonatos y  Pediátricos con Ventilación Mecánica Invasiva Unidad">
            <a:extLst>
              <a:ext uri="{FF2B5EF4-FFF2-40B4-BE49-F238E27FC236}">
                <a16:creationId xmlns:a16="http://schemas.microsoft.com/office/drawing/2014/main" id="{CDE665FD-112A-AC01-597A-04FF279CF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400" y="3295650"/>
            <a:ext cx="6027557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701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EA6EE4B-522F-6A0F-5791-B14769F5329C}"/>
              </a:ext>
            </a:extLst>
          </p:cNvPr>
          <p:cNvSpPr txBox="1"/>
          <p:nvPr/>
        </p:nvSpPr>
        <p:spPr>
          <a:xfrm>
            <a:off x="1981200" y="605024"/>
            <a:ext cx="10547524" cy="112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Parámetros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de VM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2209800" y="2462248"/>
            <a:ext cx="92964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b="1" dirty="0"/>
              <a:t>Dependientes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/>
              <a:t>Presión media de </a:t>
            </a:r>
            <a:r>
              <a:rPr lang="es-PE" sz="4000" dirty="0" err="1"/>
              <a:t>via</a:t>
            </a:r>
            <a:r>
              <a:rPr lang="es-PE" sz="4000" dirty="0"/>
              <a:t> aérea </a:t>
            </a:r>
            <a:r>
              <a:rPr lang="es-PE" sz="4000" b="1" dirty="0">
                <a:solidFill>
                  <a:srgbClr val="FF0000"/>
                </a:solidFill>
              </a:rPr>
              <a:t>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 err="1"/>
              <a:t>Relac</a:t>
            </a:r>
            <a:r>
              <a:rPr lang="es-PE" sz="4000" dirty="0"/>
              <a:t>. Tiempo </a:t>
            </a:r>
            <a:r>
              <a:rPr lang="es-PE" sz="4000" dirty="0" err="1"/>
              <a:t>insp</a:t>
            </a:r>
            <a:r>
              <a:rPr lang="es-PE" sz="4000" dirty="0"/>
              <a:t>/</a:t>
            </a:r>
            <a:r>
              <a:rPr lang="es-PE" sz="4000" dirty="0" err="1"/>
              <a:t>esp</a:t>
            </a:r>
            <a:r>
              <a:rPr lang="es-PE" sz="4000" dirty="0"/>
              <a:t> </a:t>
            </a:r>
            <a:r>
              <a:rPr lang="es-PE" sz="4000" b="1" dirty="0">
                <a:solidFill>
                  <a:srgbClr val="FF0000"/>
                </a:solidFill>
              </a:rPr>
              <a:t>T I/E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b="1" dirty="0"/>
              <a:t>Independientes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/>
              <a:t>Flujo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/>
              <a:t>FiO2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/>
              <a:t>Presión inspiratoria pico </a:t>
            </a:r>
            <a:r>
              <a:rPr lang="es-PE" sz="4000" b="1" dirty="0">
                <a:solidFill>
                  <a:srgbClr val="FF0000"/>
                </a:solidFill>
              </a:rPr>
              <a:t>PIP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/>
              <a:t>Presión al final de la espiración </a:t>
            </a:r>
            <a:r>
              <a:rPr lang="es-PE" sz="4000" b="1" dirty="0">
                <a:solidFill>
                  <a:srgbClr val="FF0000"/>
                </a:solidFill>
              </a:rPr>
              <a:t>PEEP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/>
              <a:t>Frecuencia FR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/>
              <a:t>Tiempo inspiratorio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1A8646A-F5E6-DA54-20BB-F23955567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2334008"/>
            <a:ext cx="6213816" cy="212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8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EA6EE4B-522F-6A0F-5791-B14769F5329C}"/>
              </a:ext>
            </a:extLst>
          </p:cNvPr>
          <p:cNvSpPr txBox="1"/>
          <p:nvPr/>
        </p:nvSpPr>
        <p:spPr>
          <a:xfrm>
            <a:off x="1981200" y="605024"/>
            <a:ext cx="10547524" cy="112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Parámetros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de VM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1927697" y="2217596"/>
            <a:ext cx="16306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Determinado en cada caso individual usando la MAP mínima necesaria y FiO2 requerida para obtener ganses sanguíneos apropiados sin comprometer el gasto cardiaco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200" dirty="0"/>
              <a:t>Los parámetros iniciales depende de la fisiopatología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200" dirty="0"/>
              <a:t>Restrictivos </a:t>
            </a:r>
            <a:r>
              <a:rPr lang="es-PE" sz="3200" dirty="0">
                <a:sym typeface="Wingdings" panose="05000000000000000000" pitchFamily="2" charset="2"/>
              </a:rPr>
              <a:t> resistencia incrementada  SALAM, </a:t>
            </a:r>
            <a:r>
              <a:rPr lang="es-PE" sz="3200" dirty="0" err="1">
                <a:sym typeface="Wingdings" panose="05000000000000000000" pitchFamily="2" charset="2"/>
              </a:rPr>
              <a:t>postsurfactante</a:t>
            </a:r>
            <a:r>
              <a:rPr lang="es-PE" sz="3200" dirty="0">
                <a:sym typeface="Wingdings" panose="05000000000000000000" pitchFamily="2" charset="2"/>
              </a:rPr>
              <a:t>, DBP, HTP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200" dirty="0">
                <a:sym typeface="Wingdings" panose="05000000000000000000" pitchFamily="2" charset="2"/>
              </a:rPr>
              <a:t>Obstructivos  </a:t>
            </a:r>
            <a:r>
              <a:rPr lang="es-PE" sz="3200" dirty="0" err="1">
                <a:sym typeface="Wingdings" panose="05000000000000000000" pitchFamily="2" charset="2"/>
              </a:rPr>
              <a:t>compliance</a:t>
            </a:r>
            <a:r>
              <a:rPr lang="es-PE" sz="3200" dirty="0">
                <a:sym typeface="Wingdings" panose="05000000000000000000" pitchFamily="2" charset="2"/>
              </a:rPr>
              <a:t> disminuida  EMH, hernia diafragmática, derrame pleural, SDRA, cardiopatías con </a:t>
            </a:r>
            <a:r>
              <a:rPr lang="es-PE" sz="3200" dirty="0" err="1">
                <a:sym typeface="Wingdings" panose="05000000000000000000" pitchFamily="2" charset="2"/>
              </a:rPr>
              <a:t>hiperflujo</a:t>
            </a:r>
            <a:r>
              <a:rPr lang="es-PE" sz="3200" dirty="0">
                <a:sym typeface="Wingdings" panose="05000000000000000000" pitchFamily="2" charset="2"/>
              </a:rPr>
              <a:t> pleural</a:t>
            </a:r>
            <a:endParaRPr lang="es-PE" sz="3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D80D032-A09D-65A5-7CD1-D098B7304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643" y="5354927"/>
            <a:ext cx="11905102" cy="46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9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EA6EE4B-522F-6A0F-5791-B14769F5329C}"/>
              </a:ext>
            </a:extLst>
          </p:cNvPr>
          <p:cNvSpPr txBox="1"/>
          <p:nvPr/>
        </p:nvSpPr>
        <p:spPr>
          <a:xfrm>
            <a:off x="1981200" y="605024"/>
            <a:ext cx="10547524" cy="112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Parámetros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de VM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2995342" y="2334008"/>
            <a:ext cx="5527871" cy="7294305"/>
          </a:xfrm>
          <a:prstGeom prst="rect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b="1" dirty="0">
                <a:solidFill>
                  <a:srgbClr val="FF0000"/>
                </a:solidFill>
              </a:rPr>
              <a:t>PIP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Mínimo: 15-18 cmH2O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Máximo: 18,20, 25, 28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Extuba: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sz="3600" dirty="0"/>
              <a:t>&lt;15 &lt;1kg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sz="3600" dirty="0"/>
              <a:t>&lt;18 &gt;1kg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Fracaso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sz="3600" dirty="0"/>
              <a:t>18 &gt;750 gr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sz="3600" dirty="0"/>
              <a:t>20 750-999 gr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sz="3600" dirty="0"/>
              <a:t>25 1000-1499 gr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PE" sz="3600" dirty="0"/>
              <a:t>28 &gt;1500 gr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&gt;21 aumenta el riesgo de DBP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93E356F-BD90-4813-A984-A81377F302AF}"/>
              </a:ext>
            </a:extLst>
          </p:cNvPr>
          <p:cNvSpPr txBox="1"/>
          <p:nvPr/>
        </p:nvSpPr>
        <p:spPr>
          <a:xfrm>
            <a:off x="9753600" y="2334008"/>
            <a:ext cx="6009142" cy="2862322"/>
          </a:xfrm>
          <a:prstGeom prst="rect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b="1" dirty="0">
                <a:solidFill>
                  <a:srgbClr val="FF0000"/>
                </a:solidFill>
              </a:rPr>
              <a:t>PEEP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Ideal: 5-6 cmH2O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Máximo: 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Extuba: 4-5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dirty="0"/>
              <a:t>Previene el colapso alveolar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086E9CC-CD00-D8CD-EBAA-AB9D966DE391}"/>
              </a:ext>
            </a:extLst>
          </p:cNvPr>
          <p:cNvSpPr txBox="1"/>
          <p:nvPr/>
        </p:nvSpPr>
        <p:spPr>
          <a:xfrm>
            <a:off x="9764788" y="5767672"/>
            <a:ext cx="5997954" cy="2347627"/>
          </a:xfrm>
          <a:prstGeom prst="rect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3600" b="1" dirty="0">
                <a:solidFill>
                  <a:srgbClr val="FF0000"/>
                </a:solidFill>
              </a:rPr>
              <a:t>FR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Ideal:40-60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Máximo: 60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3600" dirty="0"/>
              <a:t>Extubar: 20</a:t>
            </a:r>
          </a:p>
        </p:txBody>
      </p:sp>
    </p:spTree>
    <p:extLst>
      <p:ext uri="{BB962C8B-B14F-4D97-AF65-F5344CB8AC3E}">
        <p14:creationId xmlns:p14="http://schemas.microsoft.com/office/powerpoint/2010/main" val="2573113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EA6EE4B-522F-6A0F-5791-B14769F5329C}"/>
              </a:ext>
            </a:extLst>
          </p:cNvPr>
          <p:cNvSpPr txBox="1"/>
          <p:nvPr/>
        </p:nvSpPr>
        <p:spPr>
          <a:xfrm>
            <a:off x="1981200" y="605024"/>
            <a:ext cx="10547524" cy="112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dirty="0" err="1">
                <a:solidFill>
                  <a:srgbClr val="000000"/>
                </a:solidFill>
                <a:latin typeface="Dream Avenue"/>
              </a:rPr>
              <a:t>Objetivos</a:t>
            </a:r>
            <a:r>
              <a:rPr lang="en-US" sz="9000" dirty="0">
                <a:solidFill>
                  <a:srgbClr val="000000"/>
                </a:solidFill>
                <a:latin typeface="Dream Avenue"/>
              </a:rPr>
              <a:t> de VM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8B58AD-FDFF-627C-61C8-64A1302CE978}"/>
              </a:ext>
            </a:extLst>
          </p:cNvPr>
          <p:cNvSpPr txBox="1"/>
          <p:nvPr/>
        </p:nvSpPr>
        <p:spPr>
          <a:xfrm>
            <a:off x="2209800" y="2462248"/>
            <a:ext cx="92964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b="1" dirty="0"/>
              <a:t>Oxigenación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b="1" dirty="0">
                <a:solidFill>
                  <a:srgbClr val="FF0000"/>
                </a:solidFill>
              </a:rPr>
              <a:t>PaO2 50-60 mmHg  </a:t>
            </a:r>
            <a:r>
              <a:rPr lang="es-PE" sz="4000" dirty="0"/>
              <a:t>o SatO2 88-92% en RNPT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b="1" dirty="0">
                <a:solidFill>
                  <a:srgbClr val="FF0000"/>
                </a:solidFill>
              </a:rPr>
              <a:t>PaO2 50-70 mmHg  </a:t>
            </a:r>
            <a:r>
              <a:rPr lang="es-PE" sz="4000" dirty="0"/>
              <a:t>o SatO2 90-95% en RNT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b="1" dirty="0"/>
              <a:t>Ventilación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b="1" dirty="0">
                <a:solidFill>
                  <a:srgbClr val="FF0000"/>
                </a:solidFill>
              </a:rPr>
              <a:t>PaCO2 45-55 mmHg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 err="1"/>
              <a:t>Hipercapnea</a:t>
            </a:r>
            <a:r>
              <a:rPr lang="es-PE" sz="4000" dirty="0"/>
              <a:t> permisiva PaCO2 más elevada con </a:t>
            </a:r>
            <a:r>
              <a:rPr lang="es-PE" sz="4000" dirty="0" err="1"/>
              <a:t>Ph</a:t>
            </a:r>
            <a:r>
              <a:rPr lang="es-PE" sz="4000" dirty="0"/>
              <a:t>&gt;7.25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Clínicos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sz="4000" dirty="0"/>
              <a:t>Buen reclutamiento pulmonar 8EIC</a:t>
            </a:r>
          </a:p>
        </p:txBody>
      </p:sp>
      <p:pic>
        <p:nvPicPr>
          <p:cNvPr id="2050" name="Picture 2" descr="Guía de Procedimiento: Cuidados de Enfermería en pacientes Neonatos y  Pediátricos con Ventilación Mecánica Invasiva Unidad">
            <a:extLst>
              <a:ext uri="{FF2B5EF4-FFF2-40B4-BE49-F238E27FC236}">
                <a16:creationId xmlns:a16="http://schemas.microsoft.com/office/drawing/2014/main" id="{CDE665FD-112A-AC01-597A-04FF279CF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380" y="2127253"/>
            <a:ext cx="6027557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200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EA6EE4B-522F-6A0F-5791-B14769F5329C}"/>
              </a:ext>
            </a:extLst>
          </p:cNvPr>
          <p:cNvSpPr txBox="1"/>
          <p:nvPr/>
        </p:nvSpPr>
        <p:spPr>
          <a:xfrm>
            <a:off x="1676400" y="605024"/>
            <a:ext cx="16701212" cy="1117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Evaluación</a:t>
            </a:r>
            <a:r>
              <a:rPr lang="en-US" sz="8000" dirty="0">
                <a:solidFill>
                  <a:srgbClr val="000000"/>
                </a:solidFill>
                <a:latin typeface="Dream Avenue"/>
              </a:rPr>
              <a:t> y </a:t>
            </a: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cambio</a:t>
            </a:r>
            <a:r>
              <a:rPr lang="en-US" sz="8000" dirty="0">
                <a:solidFill>
                  <a:srgbClr val="000000"/>
                </a:solidFill>
                <a:latin typeface="Dream Avenue"/>
              </a:rPr>
              <a:t> de </a:t>
            </a: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parámetros</a:t>
            </a:r>
            <a:endParaRPr lang="en-US" sz="8000" dirty="0">
              <a:solidFill>
                <a:srgbClr val="000000"/>
              </a:solidFill>
              <a:latin typeface="Dream Avenue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7BEEA23-6040-721A-3CCB-403BF9152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828" y="2472540"/>
            <a:ext cx="9990343" cy="659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73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EA6EE4B-522F-6A0F-5791-B14769F5329C}"/>
              </a:ext>
            </a:extLst>
          </p:cNvPr>
          <p:cNvSpPr txBox="1"/>
          <p:nvPr/>
        </p:nvSpPr>
        <p:spPr>
          <a:xfrm>
            <a:off x="1676400" y="605024"/>
            <a:ext cx="16701212" cy="1117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Destete</a:t>
            </a:r>
            <a:r>
              <a:rPr lang="en-US" sz="8000" dirty="0">
                <a:solidFill>
                  <a:srgbClr val="000000"/>
                </a:solidFill>
                <a:latin typeface="Dream Avenue"/>
              </a:rPr>
              <a:t> </a:t>
            </a: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ventilación</a:t>
            </a:r>
            <a:endParaRPr lang="en-US" sz="8000" dirty="0">
              <a:solidFill>
                <a:srgbClr val="000000"/>
              </a:solidFill>
              <a:latin typeface="Dream Avenue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401D37A-701D-4C69-9DFB-92E4F343D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2919766"/>
            <a:ext cx="13350857" cy="622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65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5400000">
            <a:off x="8080374" y="-8080374"/>
            <a:ext cx="2127252" cy="18288000"/>
            <a:chOff x="0" y="0"/>
            <a:chExt cx="841853" cy="58315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853" cy="5831587"/>
            </a:xfrm>
            <a:custGeom>
              <a:avLst/>
              <a:gdLst/>
              <a:ahLst/>
              <a:cxnLst/>
              <a:rect l="l" t="t" r="r" b="b"/>
              <a:pathLst>
                <a:path w="841853" h="5831587">
                  <a:moveTo>
                    <a:pt x="0" y="0"/>
                  </a:moveTo>
                  <a:lnTo>
                    <a:pt x="841853" y="0"/>
                  </a:lnTo>
                  <a:lnTo>
                    <a:pt x="841853" y="5831587"/>
                  </a:lnTo>
                  <a:lnTo>
                    <a:pt x="0" y="5831587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41853" cy="5860162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2660776" y="1179201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6" y="0"/>
                </a:lnTo>
                <a:lnTo>
                  <a:pt x="6590266" y="2586680"/>
                </a:lnTo>
                <a:lnTo>
                  <a:pt x="0" y="258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EA6EE4B-522F-6A0F-5791-B14769F5329C}"/>
              </a:ext>
            </a:extLst>
          </p:cNvPr>
          <p:cNvSpPr txBox="1"/>
          <p:nvPr/>
        </p:nvSpPr>
        <p:spPr>
          <a:xfrm>
            <a:off x="1676400" y="605024"/>
            <a:ext cx="16701212" cy="1117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8000" dirty="0" err="1">
                <a:solidFill>
                  <a:srgbClr val="000000"/>
                </a:solidFill>
                <a:latin typeface="Dream Avenue"/>
              </a:rPr>
              <a:t>Complicaciones</a:t>
            </a:r>
            <a:r>
              <a:rPr lang="en-US" sz="8000" dirty="0">
                <a:solidFill>
                  <a:srgbClr val="000000"/>
                </a:solidFill>
                <a:latin typeface="Dream Avenue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9CCCFD-4A89-8F8E-08E2-0D12B6E63B07}"/>
              </a:ext>
            </a:extLst>
          </p:cNvPr>
          <p:cNvSpPr txBox="1"/>
          <p:nvPr/>
        </p:nvSpPr>
        <p:spPr>
          <a:xfrm>
            <a:off x="2209800" y="2462248"/>
            <a:ext cx="1592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Intubación selectiva del bronquio principal derecho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Atelectasia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 err="1"/>
              <a:t>Bronconeumonia</a:t>
            </a:r>
            <a:endParaRPr lang="es-PE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Aire ectópico (neumotórax, enfisema intersticial o </a:t>
            </a:r>
            <a:r>
              <a:rPr lang="es-PE" sz="4000" dirty="0" err="1"/>
              <a:t>neumomediastino</a:t>
            </a:r>
            <a:r>
              <a:rPr lang="es-PE" sz="4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Repercusión hemodinámica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DBP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Mal control de oxigenación (riesgo de ROP)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Mal control de la ventilación (hemorragia intraventricular y/o LPV)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4000" dirty="0"/>
              <a:t>Neumonía asociado a ventilador</a:t>
            </a:r>
          </a:p>
        </p:txBody>
      </p:sp>
    </p:spTree>
    <p:extLst>
      <p:ext uri="{BB962C8B-B14F-4D97-AF65-F5344CB8AC3E}">
        <p14:creationId xmlns:p14="http://schemas.microsoft.com/office/powerpoint/2010/main" val="3083967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352" y="4526634"/>
            <a:ext cx="7723296" cy="2237169"/>
            <a:chOff x="0" y="0"/>
            <a:chExt cx="2462766" cy="7133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2766" cy="713378"/>
            </a:xfrm>
            <a:custGeom>
              <a:avLst/>
              <a:gdLst/>
              <a:ahLst/>
              <a:cxnLst/>
              <a:rect l="l" t="t" r="r" b="b"/>
              <a:pathLst>
                <a:path w="2462766" h="713378">
                  <a:moveTo>
                    <a:pt x="0" y="0"/>
                  </a:moveTo>
                  <a:lnTo>
                    <a:pt x="2462766" y="0"/>
                  </a:lnTo>
                  <a:lnTo>
                    <a:pt x="2462766" y="713378"/>
                  </a:lnTo>
                  <a:lnTo>
                    <a:pt x="0" y="713378"/>
                  </a:lnTo>
                  <a:close/>
                </a:path>
              </a:pathLst>
            </a:custGeom>
            <a:solidFill>
              <a:srgbClr val="FF9DC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62766" cy="741953"/>
            </a:xfrm>
            <a:prstGeom prst="rect">
              <a:avLst/>
            </a:prstGeom>
          </p:spPr>
          <p:txBody>
            <a:bodyPr lIns="41958" tIns="41958" rIns="41958" bIns="41958" rtlCol="0" anchor="ctr"/>
            <a:lstStyle/>
            <a:p>
              <a:pPr algn="ctr">
                <a:lnSpc>
                  <a:spcPts val="219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859893" y="3911535"/>
            <a:ext cx="10568215" cy="262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9"/>
              </a:lnSpc>
            </a:pPr>
            <a:r>
              <a:rPr lang="en-US" sz="11999">
                <a:solidFill>
                  <a:srgbClr val="000000"/>
                </a:solidFill>
                <a:latin typeface="Dream Avenue"/>
              </a:rPr>
              <a:t>¡Muchas gracias!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8098851"/>
            <a:ext cx="5380769" cy="2944748"/>
          </a:xfrm>
          <a:custGeom>
            <a:avLst/>
            <a:gdLst/>
            <a:ahLst/>
            <a:cxnLst/>
            <a:rect l="l" t="t" r="r" b="b"/>
            <a:pathLst>
              <a:path w="5380769" h="2944748">
                <a:moveTo>
                  <a:pt x="0" y="0"/>
                </a:moveTo>
                <a:lnTo>
                  <a:pt x="5380769" y="0"/>
                </a:lnTo>
                <a:lnTo>
                  <a:pt x="5380769" y="2944748"/>
                </a:lnTo>
                <a:lnTo>
                  <a:pt x="0" y="2944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323660" y="1800318"/>
            <a:ext cx="1917384" cy="1917384"/>
          </a:xfrm>
          <a:custGeom>
            <a:avLst/>
            <a:gdLst/>
            <a:ahLst/>
            <a:cxnLst/>
            <a:rect l="l" t="t" r="r" b="b"/>
            <a:pathLst>
              <a:path w="1917384" h="1917384">
                <a:moveTo>
                  <a:pt x="0" y="0"/>
                </a:moveTo>
                <a:lnTo>
                  <a:pt x="1917384" y="0"/>
                </a:lnTo>
                <a:lnTo>
                  <a:pt x="1917384" y="1917383"/>
                </a:lnTo>
                <a:lnTo>
                  <a:pt x="0" y="1917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581501" y="506978"/>
            <a:ext cx="6590266" cy="2586679"/>
          </a:xfrm>
          <a:custGeom>
            <a:avLst/>
            <a:gdLst/>
            <a:ahLst/>
            <a:cxnLst/>
            <a:rect l="l" t="t" r="r" b="b"/>
            <a:pathLst>
              <a:path w="6590266" h="2586679">
                <a:moveTo>
                  <a:pt x="0" y="0"/>
                </a:moveTo>
                <a:lnTo>
                  <a:pt x="6590265" y="0"/>
                </a:lnTo>
                <a:lnTo>
                  <a:pt x="6590265" y="2586679"/>
                </a:lnTo>
                <a:lnTo>
                  <a:pt x="0" y="25866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Words>938</Words>
  <Application>Microsoft Office PowerPoint</Application>
  <PresentationFormat>Personalizado</PresentationFormat>
  <Paragraphs>125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Dream Avenue</vt:lpstr>
      <vt:lpstr>Calibri</vt:lpstr>
      <vt:lpstr>Arial</vt:lpstr>
      <vt:lpstr>Wingdings</vt:lpstr>
      <vt:lpstr>Open Sans 2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Creativo Rosa</dc:title>
  <dc:creator>LUCIANA</dc:creator>
  <cp:lastModifiedBy>Luciana Luna</cp:lastModifiedBy>
  <cp:revision>15</cp:revision>
  <dcterms:created xsi:type="dcterms:W3CDTF">2006-08-16T00:00:00Z</dcterms:created>
  <dcterms:modified xsi:type="dcterms:W3CDTF">2024-05-21T05:23:22Z</dcterms:modified>
  <dc:identifier>DAGFoo7o7bQ</dc:identifier>
</cp:coreProperties>
</file>